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e67d4f14cd484d" /><Relationship Type="http://schemas.openxmlformats.org/officeDocument/2006/relationships/extended-properties" Target="/docProps/app.xml" Id="R0042bb03da084a56" /><Relationship Type="http://schemas.openxmlformats.org/officeDocument/2006/relationships/officeDocument" Target="/ppt/presentation.xml" Id="R9e4392ccec4047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23087d57d743e3"/>
  </p:sldMasterIdLst>
  <p:notesMasterIdLst>
    <p:notesMasterId xmlns:r="http://schemas.openxmlformats.org/officeDocument/2006/relationships" r:id="R3aa82ef3f5b94700"/>
  </p:notesMasterIdLst>
  <p:sldIdLst>
    <p:sldId xmlns:r="http://schemas.openxmlformats.org/officeDocument/2006/relationships" id="256" r:id="R771eba38c2f44a8b"/>
    <p:sldId xmlns:r="http://schemas.openxmlformats.org/officeDocument/2006/relationships" id="257" r:id="R0ac065424bd64398"/>
    <p:sldId xmlns:r="http://schemas.openxmlformats.org/officeDocument/2006/relationships" id="258" r:id="R25d458fcd4324c57"/>
    <p:sldId xmlns:r="http://schemas.openxmlformats.org/officeDocument/2006/relationships" id="259" r:id="Rc7642f7c0bdc40ee"/>
    <p:sldId xmlns:r="http://schemas.openxmlformats.org/officeDocument/2006/relationships" id="260" r:id="Red58afa132f34ce4"/>
    <p:sldId xmlns:r="http://schemas.openxmlformats.org/officeDocument/2006/relationships" id="261" r:id="Rc25aa6b6b6624020"/>
    <p:sldId xmlns:r="http://schemas.openxmlformats.org/officeDocument/2006/relationships" id="262" r:id="R4dc683ee006c432c"/>
    <p:sldId xmlns:r="http://schemas.openxmlformats.org/officeDocument/2006/relationships" id="263" r:id="Rb1f9fef0b20d4231"/>
    <p:sldId xmlns:r="http://schemas.openxmlformats.org/officeDocument/2006/relationships" id="264" r:id="Re4efab82dc934784"/>
    <p:sldId xmlns:r="http://schemas.openxmlformats.org/officeDocument/2006/relationships" id="265" r:id="R5b937fff0ca04dcc"/>
    <p:sldId xmlns:r="http://schemas.openxmlformats.org/officeDocument/2006/relationships" id="266" r:id="R05ed476ce44349a1"/>
    <p:sldId xmlns:r="http://schemas.openxmlformats.org/officeDocument/2006/relationships" id="267" r:id="R169c91acaf9445c8"/>
    <p:sldId xmlns:r="http://schemas.openxmlformats.org/officeDocument/2006/relationships" id="268" r:id="R60a8239743c84e21"/>
    <p:sldId xmlns:r="http://schemas.openxmlformats.org/officeDocument/2006/relationships" id="269" r:id="R541b75d8479c4c70"/>
    <p:sldId xmlns:r="http://schemas.openxmlformats.org/officeDocument/2006/relationships" id="270" r:id="R884d279b7ca94cb4"/>
    <p:sldId xmlns:r="http://schemas.openxmlformats.org/officeDocument/2006/relationships" id="271" r:id="R14aedeb06a7c4d30"/>
    <p:sldId xmlns:r="http://schemas.openxmlformats.org/officeDocument/2006/relationships" id="272" r:id="Rb3b8848dd891420e"/>
    <p:sldId xmlns:r="http://schemas.openxmlformats.org/officeDocument/2006/relationships" id="273" r:id="Re8a22c761af2458f"/>
    <p:sldId xmlns:r="http://schemas.openxmlformats.org/officeDocument/2006/relationships" id="274" r:id="R2565677677434316"/>
    <p:sldId xmlns:r="http://schemas.openxmlformats.org/officeDocument/2006/relationships" id="275" r:id="R699561112f3c42a5"/>
    <p:sldId xmlns:r="http://schemas.openxmlformats.org/officeDocument/2006/relationships" id="276" r:id="Ra611127e9d0d4240"/>
    <p:sldId xmlns:r="http://schemas.openxmlformats.org/officeDocument/2006/relationships" id="277" r:id="R33b093f553e54d0c"/>
    <p:sldId xmlns:r="http://schemas.openxmlformats.org/officeDocument/2006/relationships" id="278" r:id="Rf4982fd657b14abc"/>
  </p:sldIdLst>
  <p:sldSz cx="16256000" cy="9144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52046eb404d7a" /><Relationship Type="http://schemas.openxmlformats.org/officeDocument/2006/relationships/slideMaster" Target="/ppt/slideMasters/slideMaster1.xml" Id="Rcb23087d57d743e3" /><Relationship Type="http://schemas.openxmlformats.org/officeDocument/2006/relationships/notesMaster" Target="/ppt/notesMasters/notesMaster1.xml" Id="R3aa82ef3f5b94700" /><Relationship Type="http://schemas.openxmlformats.org/officeDocument/2006/relationships/presProps" Target="/ppt/presProps.xml" Id="R2b0510e3ab6c44b6" /><Relationship Type="http://schemas.openxmlformats.org/officeDocument/2006/relationships/tableStyles" Target="/ppt/tableStyles.xml" Id="R117f35c3b3dc43bd" /><Relationship Type="http://schemas.openxmlformats.org/officeDocument/2006/relationships/slide" Target="/ppt/slides/slide1.xml" Id="R771eba38c2f44a8b" /><Relationship Type="http://schemas.openxmlformats.org/officeDocument/2006/relationships/slide" Target="/ppt/slides/slide2.xml" Id="R0ac065424bd64398" /><Relationship Type="http://schemas.openxmlformats.org/officeDocument/2006/relationships/slide" Target="/ppt/slides/slide3.xml" Id="R25d458fcd4324c57" /><Relationship Type="http://schemas.openxmlformats.org/officeDocument/2006/relationships/slide" Target="/ppt/slides/slide4.xml" Id="Rc7642f7c0bdc40ee" /><Relationship Type="http://schemas.openxmlformats.org/officeDocument/2006/relationships/slide" Target="/ppt/slides/slide5.xml" Id="Red58afa132f34ce4" /><Relationship Type="http://schemas.openxmlformats.org/officeDocument/2006/relationships/slide" Target="/ppt/slides/slide6.xml" Id="Rc25aa6b6b6624020" /><Relationship Type="http://schemas.openxmlformats.org/officeDocument/2006/relationships/slide" Target="/ppt/slides/slide7.xml" Id="R4dc683ee006c432c" /><Relationship Type="http://schemas.openxmlformats.org/officeDocument/2006/relationships/slide" Target="/ppt/slides/slide8.xml" Id="Rb1f9fef0b20d4231" /><Relationship Type="http://schemas.openxmlformats.org/officeDocument/2006/relationships/slide" Target="/ppt/slides/slide9.xml" Id="Re4efab82dc934784" /><Relationship Type="http://schemas.openxmlformats.org/officeDocument/2006/relationships/slide" Target="/ppt/slides/slide10.xml" Id="R5b937fff0ca04dcc" /><Relationship Type="http://schemas.openxmlformats.org/officeDocument/2006/relationships/slide" Target="/ppt/slides/slide11.xml" Id="R05ed476ce44349a1" /><Relationship Type="http://schemas.openxmlformats.org/officeDocument/2006/relationships/slide" Target="/ppt/slides/slide12.xml" Id="R169c91acaf9445c8" /><Relationship Type="http://schemas.openxmlformats.org/officeDocument/2006/relationships/slide" Target="/ppt/slides/slide13.xml" Id="R60a8239743c84e21" /><Relationship Type="http://schemas.openxmlformats.org/officeDocument/2006/relationships/slide" Target="/ppt/slides/slide14.xml" Id="R541b75d8479c4c70" /><Relationship Type="http://schemas.openxmlformats.org/officeDocument/2006/relationships/slide" Target="/ppt/slides/slide15.xml" Id="R884d279b7ca94cb4" /><Relationship Type="http://schemas.openxmlformats.org/officeDocument/2006/relationships/slide" Target="/ppt/slides/slide16.xml" Id="R14aedeb06a7c4d30" /><Relationship Type="http://schemas.openxmlformats.org/officeDocument/2006/relationships/slide" Target="/ppt/slides/slide17.xml" Id="Rb3b8848dd891420e" /><Relationship Type="http://schemas.openxmlformats.org/officeDocument/2006/relationships/slide" Target="/ppt/slides/slide18.xml" Id="Re8a22c761af2458f" /><Relationship Type="http://schemas.openxmlformats.org/officeDocument/2006/relationships/slide" Target="/ppt/slides/slide19.xml" Id="R2565677677434316" /><Relationship Type="http://schemas.openxmlformats.org/officeDocument/2006/relationships/slide" Target="/ppt/slides/slide20.xml" Id="R699561112f3c42a5" /><Relationship Type="http://schemas.openxmlformats.org/officeDocument/2006/relationships/slide" Target="/ppt/slides/slide21.xml" Id="Ra611127e9d0d4240" /><Relationship Type="http://schemas.openxmlformats.org/officeDocument/2006/relationships/slide" Target="/ppt/slides/slide22.xml" Id="R33b093f553e54d0c" /><Relationship Type="http://schemas.openxmlformats.org/officeDocument/2006/relationships/slide" Target="/ppt/slides/slide23.xml" Id="Rf4982fd657b14a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3e17f0980f49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82c6e5bdba4b18" /><Relationship Type="http://schemas.openxmlformats.org/officeDocument/2006/relationships/notesMaster" Target="/ppt/notesMasters/notesMaster1.xml" Id="R1fd64d7e96c143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4d579d31ab4f7e" /><Relationship Type="http://schemas.openxmlformats.org/officeDocument/2006/relationships/notesMaster" Target="/ppt/notesMasters/notesMaster1.xml" Id="R5bb4a363433147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670b3c865b492a" /><Relationship Type="http://schemas.openxmlformats.org/officeDocument/2006/relationships/notesMaster" Target="/ppt/notesMasters/notesMaster1.xml" Id="R74cfd146ebcc43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3ecddf062e4ff2" /><Relationship Type="http://schemas.openxmlformats.org/officeDocument/2006/relationships/notesMaster" Target="/ppt/notesMasters/notesMaster1.xml" Id="Re4844a8a205e4d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53a05a3ff9412e" /><Relationship Type="http://schemas.openxmlformats.org/officeDocument/2006/relationships/notesMaster" Target="/ppt/notesMasters/notesMaster1.xml" Id="R3851ead53f7341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176073e5974f86" /><Relationship Type="http://schemas.openxmlformats.org/officeDocument/2006/relationships/notesMaster" Target="/ppt/notesMasters/notesMaster1.xml" Id="Rb372e310007b49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761727c2094136" /><Relationship Type="http://schemas.openxmlformats.org/officeDocument/2006/relationships/notesMaster" Target="/ppt/notesMasters/notesMaster1.xml" Id="R50829617ef8b4a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e1af12804f4f50" /><Relationship Type="http://schemas.openxmlformats.org/officeDocument/2006/relationships/notesMaster" Target="/ppt/notesMasters/notesMaster1.xml" Id="R72c7e722e46c48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12bbf111764040" /><Relationship Type="http://schemas.openxmlformats.org/officeDocument/2006/relationships/notesMaster" Target="/ppt/notesMasters/notesMaster1.xml" Id="R1994aa67aa3b43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eb0f8aa03a47ff" /><Relationship Type="http://schemas.openxmlformats.org/officeDocument/2006/relationships/notesMaster" Target="/ppt/notesMasters/notesMaster1.xml" Id="R02127802ed4c43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f5b0150c0b40e6" /><Relationship Type="http://schemas.openxmlformats.org/officeDocument/2006/relationships/notesMaster" Target="/ppt/notesMasters/notesMaster1.xml" Id="R62ef4d88ed6c4f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c6d2a7d82342a7" /><Relationship Type="http://schemas.openxmlformats.org/officeDocument/2006/relationships/notesMaster" Target="/ppt/notesMasters/notesMaster1.xml" Id="Rc97252c5ebb448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59da82690a4c9b" /><Relationship Type="http://schemas.openxmlformats.org/officeDocument/2006/relationships/notesMaster" Target="/ppt/notesMasters/notesMaster1.xml" Id="Ra40e4fcef71e4e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ecd06cede1431d" /><Relationship Type="http://schemas.openxmlformats.org/officeDocument/2006/relationships/notesMaster" Target="/ppt/notesMasters/notesMaster1.xml" Id="R9505523232664c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f726c8aa834da0" /><Relationship Type="http://schemas.openxmlformats.org/officeDocument/2006/relationships/notesMaster" Target="/ppt/notesMasters/notesMaster1.xml" Id="Re83197a868c545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04604c299545cd" /><Relationship Type="http://schemas.openxmlformats.org/officeDocument/2006/relationships/notesMaster" Target="/ppt/notesMasters/notesMaster1.xml" Id="R6028858d012246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41ac0cd4d141b6" /><Relationship Type="http://schemas.openxmlformats.org/officeDocument/2006/relationships/notesMaster" Target="/ppt/notesMasters/notesMaster1.xml" Id="Rc3b70b27c36c4a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87c704604248ac" /><Relationship Type="http://schemas.openxmlformats.org/officeDocument/2006/relationships/notesMaster" Target="/ppt/notesMasters/notesMaster1.xml" Id="Rc2ad52e93dff45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b878517cda40b4" /><Relationship Type="http://schemas.openxmlformats.org/officeDocument/2006/relationships/notesMaster" Target="/ppt/notesMasters/notesMaster1.xml" Id="R9ac019a414554cf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4ec03bb592423f" /><Relationship Type="http://schemas.openxmlformats.org/officeDocument/2006/relationships/notesMaster" Target="/ppt/notesMasters/notesMaster1.xml" Id="Rc5b31bed0e094a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fc0f7790c9489e" /><Relationship Type="http://schemas.openxmlformats.org/officeDocument/2006/relationships/notesMaster" Target="/ppt/notesMasters/notesMaster1.xml" Id="Rd7b125596ce445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e96b28a03f4d13" /><Relationship Type="http://schemas.openxmlformats.org/officeDocument/2006/relationships/notesMaster" Target="/ppt/notesMasters/notesMaster1.xml" Id="Rd3fd2af4b51840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155a379040f466c" /><Relationship Type="http://schemas.openxmlformats.org/officeDocument/2006/relationships/notesMaster" Target="/ppt/notesMasters/notesMaster1.xml" Id="Re8da2fdcf1cf45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18d42fbc644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948f54e4747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63ac044ca49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57024deb54f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2d39786444a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025b530f34c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896d009aa4e9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304d16c9a43f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0884fbae041a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de7bcd55f427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3689070374b5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99D80C-9A90-4166-BF8D-6D7760CA0D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92BCC4-8F27-476F-A11B-FD0C370604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414B7A-970F-433E-AFF3-BB42B10990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05B25B-AF7A-4721-9139-01675DD484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623A2E-7594-4189-98D2-359F924DE5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E0BAAA-A1A2-4D7B-811A-8B1D7BBE05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B925243-F5FC-44EE-9137-D34A838AF9C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CAB644-764D-4F88-A7D4-669C37F317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465BB9-F997-490F-902B-ED14EBC06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6B54B0-3420-4EA5-996A-D52F03E4C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A9DC51-DEEF-4FE5-81B9-377BA984DE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AAE8F7-1458-482C-903B-D8A7C89A3F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5C1C38-2364-43E1-8960-82251D33FC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78B1AA9-95AE-4C38-94B2-9E74CB9F2D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58FDDD-F729-4FCD-BE69-24443B8887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BA3473-66B8-47AF-B443-8EAF6CF556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3EB644-E273-4224-8426-8DCF1ECC62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4AEF629-F74E-4FCC-AC8C-2D5850CD23D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F5341CC-0509-4B7C-8DFB-5D2AC1784A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0C5C8D3-281A-4210-93BD-8009B7299B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C1DDA4E-CB38-4076-860F-DF241C9671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A0535D-EC43-47D4-A513-EA81CD7E5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FAB642-30F5-40BB-8DD9-06DF4D4EE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848F1BC-A98E-4917-ACC0-961A723790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B549797-7A06-4D13-BC5E-3564C42463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40C19EC-385B-4762-9FC3-2AD1859C96D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602DC24-8A7D-4923-B0A9-CB16297BC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0CD4520-68E0-4170-B1D4-8FEEA5DE71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560957-3894-4778-80C0-85528BE4F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EBA57C-76B9-4F0F-BD22-BDE6248F6D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CDD6521-7BFE-4016-9DBE-946F46845C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33CB467-8632-459C-8753-ED1CCC15B0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22E32A5-F57D-45A5-8FD5-9BDEC4B090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B732731-A578-47B5-9D89-415502EB31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D55940E-030D-456B-B35B-39C12C924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00FB502-D297-425B-AE0F-270BE6AFF2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EC7765-68AA-4C8C-88FE-A28EAD8D9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7CE61A-761B-4BCB-AE5C-DDE8AF1AA5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BAF37BB-F07D-4DE2-A945-7BECB740D5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5432DDA-1942-45EB-A12D-C4D005F1FA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99B5837-D06B-4765-A60C-5845D73790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160110-D556-4A0C-9451-AC94D1C4F9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12FA8B-1EF1-4874-9EFE-5406FA6A3A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496BB9B-4909-4E19-B199-E00D3494A02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1E800AE-22CF-4A0E-BEDA-7244C13A92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7917870-B10C-4D5B-87EF-E49454A6A5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85EA1F-4674-42AD-A501-4278BE1DB2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23E69EC-0051-4710-9569-4E68CAD86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05AD67-C578-4FC8-B6AD-1D33395E6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C990E5-EB02-4AA4-940C-62D98ED738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5B4006-F0EE-4071-80DC-92809BD8B2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3B65B8-7ADF-4D7B-8246-8D8E8DED7E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9AC443-B53C-41C7-B668-E56F41F9E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DE6E2F0-155D-4AFB-919F-C9A7D849C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C5E1DD-AB09-4F92-B9FA-E79007624C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983BF9-169D-4B28-8766-C25BD5DD60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51FB84-DA1E-4D2B-BC81-6B35E0144D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82BDBC-4CB5-494B-82D7-78E09C6934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b3eecf94564068" /><Relationship Type="http://schemas.openxmlformats.org/officeDocument/2006/relationships/slideLayout" Target="/ppt/slideLayouts/slideLayout1.xml" Id="Rbddb150e58ee4541" /><Relationship Type="http://schemas.openxmlformats.org/officeDocument/2006/relationships/slideLayout" Target="/ppt/slideLayouts/slideLayout2.xml" Id="Re56e5bf8f6f14e52" /><Relationship Type="http://schemas.openxmlformats.org/officeDocument/2006/relationships/slideLayout" Target="/ppt/slideLayouts/slideLayout3.xml" Id="R21af79f8368e48d6" /><Relationship Type="http://schemas.openxmlformats.org/officeDocument/2006/relationships/slideLayout" Target="/ppt/slideLayouts/slideLayout4.xml" Id="Rd077a459d5cc4637" /><Relationship Type="http://schemas.openxmlformats.org/officeDocument/2006/relationships/slideLayout" Target="/ppt/slideLayouts/slideLayout5.xml" Id="Re713f092d21e4936" /><Relationship Type="http://schemas.openxmlformats.org/officeDocument/2006/relationships/slideLayout" Target="/ppt/slideLayouts/slideLayout6.xml" Id="R014d6a9cb5fd4de0" /><Relationship Type="http://schemas.openxmlformats.org/officeDocument/2006/relationships/slideLayout" Target="/ppt/slideLayouts/slideLayout7.xml" Id="R47ae5c6211d24180" /><Relationship Type="http://schemas.openxmlformats.org/officeDocument/2006/relationships/slideLayout" Target="/ppt/slideLayouts/slideLayout8.xml" Id="R9fe38b59e85246e2" /><Relationship Type="http://schemas.openxmlformats.org/officeDocument/2006/relationships/slideLayout" Target="/ppt/slideLayouts/slideLayout9.xml" Id="R954ebb299aab4aa2" /><Relationship Type="http://schemas.openxmlformats.org/officeDocument/2006/relationships/slideLayout" Target="/ppt/slideLayouts/slideLayout10.xml" Id="Rc792afa3ce134035" /><Relationship Type="http://schemas.openxmlformats.org/officeDocument/2006/relationships/slideLayout" Target="/ppt/slideLayouts/slideLayout11.xml" Id="R7edf17f368ca4c2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0000">
            <a:alpha val="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78026DA-A500-448B-A724-7B194982E2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D81628-5290-4C10-A217-CD61D0EFA2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CB9A6F-82DF-457D-A118-41D0C2AA633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6/27/26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760025-A449-4691-91FB-EB107F0A552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B97138-E803-4F43-90B3-5E8FC94525B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db150e58ee4541"/>
    <p:sldLayoutId xmlns:r="http://schemas.openxmlformats.org/officeDocument/2006/relationships" id="2147483650" r:id="Re56e5bf8f6f14e52"/>
    <p:sldLayoutId xmlns:r="http://schemas.openxmlformats.org/officeDocument/2006/relationships" id="2147483651" r:id="R21af79f8368e48d6"/>
    <p:sldLayoutId xmlns:r="http://schemas.openxmlformats.org/officeDocument/2006/relationships" id="2147483652" r:id="Rd077a459d5cc4637"/>
    <p:sldLayoutId xmlns:r="http://schemas.openxmlformats.org/officeDocument/2006/relationships" id="2147483653" r:id="Re713f092d21e4936"/>
    <p:sldLayoutId xmlns:r="http://schemas.openxmlformats.org/officeDocument/2006/relationships" id="2147483654" r:id="R014d6a9cb5fd4de0"/>
    <p:sldLayoutId xmlns:r="http://schemas.openxmlformats.org/officeDocument/2006/relationships" id="2147483655" r:id="R47ae5c6211d24180"/>
    <p:sldLayoutId xmlns:r="http://schemas.openxmlformats.org/officeDocument/2006/relationships" id="2147483656" r:id="R9fe38b59e85246e2"/>
    <p:sldLayoutId xmlns:r="http://schemas.openxmlformats.org/officeDocument/2006/relationships" id="2147483657" r:id="R954ebb299aab4aa2"/>
    <p:sldLayoutId xmlns:r="http://schemas.openxmlformats.org/officeDocument/2006/relationships" id="2147483658" r:id="Rc792afa3ce134035"/>
    <p:sldLayoutId xmlns:r="http://schemas.openxmlformats.org/officeDocument/2006/relationships" id="2147483659" r:id="R7edf17f368ca4c2c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e0deca09514d62" /><Relationship Type="http://schemas.openxmlformats.org/officeDocument/2006/relationships/image" Target="/ppt/media/image.png" Id="R905fed1d20be4964" /><Relationship Type="http://schemas.openxmlformats.org/officeDocument/2006/relationships/image" Target="/ppt/media/image2.png" Id="R80e91e3689fc4f6b" /><Relationship Type="http://schemas.openxmlformats.org/officeDocument/2006/relationships/image" Target="/ppt/media/image3.png" Id="Rb6619597b87b425d" /><Relationship Type="http://schemas.openxmlformats.org/officeDocument/2006/relationships/image" Target="/ppt/media/image4.png" Id="R669e914985f14fcf" /><Relationship Type="http://schemas.openxmlformats.org/officeDocument/2006/relationships/notesSlide" Target="/ppt/notesSlides/notesSlide1.xml" Id="R51e9d60b908148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af72735854852" /><Relationship Type="http://schemas.openxmlformats.org/officeDocument/2006/relationships/image" Target="/ppt/media/image5.png" Id="R67f72df7ed794254" /><Relationship Type="http://schemas.openxmlformats.org/officeDocument/2006/relationships/image" Target="/ppt/media/image6.png" Id="R579f37a7bf974cad" /><Relationship Type="http://schemas.openxmlformats.org/officeDocument/2006/relationships/notesSlide" Target="/ppt/notesSlides/notesSlide2.xml" Id="Rf71dc05d70344f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6fc8b05e584b0f" /><Relationship Type="http://schemas.openxmlformats.org/officeDocument/2006/relationships/image" Target="/ppt/media/image.png" Id="R1a3b2263b2a446c7" /><Relationship Type="http://schemas.openxmlformats.org/officeDocument/2006/relationships/image" Target="/ppt/media/image2.png" Id="R1b2ca8592b0c43ca" /><Relationship Type="http://schemas.openxmlformats.org/officeDocument/2006/relationships/image" Target="/ppt/media/image7.png" Id="R4b223e2474ab4b0f" /><Relationship Type="http://schemas.openxmlformats.org/officeDocument/2006/relationships/notesSlide" Target="/ppt/notesSlides/notesSlide3.xml" Id="Re7624a1717b445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aa392f90774eb2" /><Relationship Type="http://schemas.openxmlformats.org/officeDocument/2006/relationships/image" Target="/ppt/media/image.png" Id="R3247af9c81dd4803" /><Relationship Type="http://schemas.openxmlformats.org/officeDocument/2006/relationships/image" Target="/ppt/media/image2.png" Id="R16a262012b014e68" /><Relationship Type="http://schemas.openxmlformats.org/officeDocument/2006/relationships/image" Target="/ppt/media/image8.png" Id="R843fbfe500514736" /><Relationship Type="http://schemas.openxmlformats.org/officeDocument/2006/relationships/image" Target="/ppt/media/image9.png" Id="R650538dd714b4d25" /><Relationship Type="http://schemas.openxmlformats.org/officeDocument/2006/relationships/image" Target="/ppt/media/image10.png" Id="Rb1fb3c59e6754e1e" /><Relationship Type="http://schemas.openxmlformats.org/officeDocument/2006/relationships/image" Target="/ppt/media/image11.png" Id="R2cdc4644a2774d86" /><Relationship Type="http://schemas.openxmlformats.org/officeDocument/2006/relationships/notesSlide" Target="/ppt/notesSlides/notesSlide4.xml" Id="Rc6366eee46c6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210871de214729" /><Relationship Type="http://schemas.openxmlformats.org/officeDocument/2006/relationships/image" Target="/ppt/media/image.png" Id="R4096bd2b4d574fb2" /><Relationship Type="http://schemas.openxmlformats.org/officeDocument/2006/relationships/image" Target="/ppt/media/image2.png" Id="R32eaed995b15401b" /><Relationship Type="http://schemas.openxmlformats.org/officeDocument/2006/relationships/image" Target="/ppt/media/image12.png" Id="Ree1b3f74999943f3" /><Relationship Type="http://schemas.openxmlformats.org/officeDocument/2006/relationships/image" Target="/ppt/media/image13.png" Id="R88db778c1acf4c04" /><Relationship Type="http://schemas.openxmlformats.org/officeDocument/2006/relationships/notesSlide" Target="/ppt/notesSlides/notesSlide5.xml" Id="R204871073b0141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459d3607234f1d" /><Relationship Type="http://schemas.openxmlformats.org/officeDocument/2006/relationships/image" Target="/ppt/media/image.png" Id="Ra65a2e4d11814aec" /><Relationship Type="http://schemas.openxmlformats.org/officeDocument/2006/relationships/image" Target="/ppt/media/image2.png" Id="Re511d4ce15124260" /><Relationship Type="http://schemas.openxmlformats.org/officeDocument/2006/relationships/image" Target="/ppt/media/image14.png" Id="R9a9ca7bf39d64489" /><Relationship Type="http://schemas.openxmlformats.org/officeDocument/2006/relationships/image" Target="/ppt/media/image15.png" Id="R5ddcc0e8a66544a5" /><Relationship Type="http://schemas.openxmlformats.org/officeDocument/2006/relationships/notesSlide" Target="/ppt/notesSlides/notesSlide6.xml" Id="R860402a0d83545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e2609cb1e84261" /><Relationship Type="http://schemas.openxmlformats.org/officeDocument/2006/relationships/image" Target="/ppt/media/image.png" Id="R31b787dfa40640d4" /><Relationship Type="http://schemas.openxmlformats.org/officeDocument/2006/relationships/image" Target="/ppt/media/image2.png" Id="R7c939a3d44394488" /><Relationship Type="http://schemas.openxmlformats.org/officeDocument/2006/relationships/image" Target="/ppt/media/image16.png" Id="Rec599079218245d5" /><Relationship Type="http://schemas.openxmlformats.org/officeDocument/2006/relationships/image" Target="/ppt/media/image17.png" Id="Rfd45f75749d04eb8" /><Relationship Type="http://schemas.openxmlformats.org/officeDocument/2006/relationships/image" Target="/ppt/media/image18.png" Id="R4620297b057840e7" /><Relationship Type="http://schemas.openxmlformats.org/officeDocument/2006/relationships/image" Target="/ppt/media/image19.png" Id="R5b53fd69c2bd496a" /><Relationship Type="http://schemas.openxmlformats.org/officeDocument/2006/relationships/image" Target="/ppt/media/image20.png" Id="Rb5df798516284bcb" /><Relationship Type="http://schemas.openxmlformats.org/officeDocument/2006/relationships/image" Target="/ppt/media/image21.png" Id="R7a8ed8c322c34413" /><Relationship Type="http://schemas.openxmlformats.org/officeDocument/2006/relationships/image" Target="/ppt/media/image22.png" Id="Rdbc4b08922a84702" /><Relationship Type="http://schemas.openxmlformats.org/officeDocument/2006/relationships/notesSlide" Target="/ppt/notesSlides/notesSlide7.xml" Id="R4d753d188ced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69d346ea9b4c18" /><Relationship Type="http://schemas.openxmlformats.org/officeDocument/2006/relationships/image" Target="/ppt/media/image.png" Id="Rab89dbd18c084cd2" /><Relationship Type="http://schemas.openxmlformats.org/officeDocument/2006/relationships/image" Target="/ppt/media/image2.png" Id="R424302805a3b4827" /><Relationship Type="http://schemas.openxmlformats.org/officeDocument/2006/relationships/image" Target="/ppt/media/image23.png" Id="Rc4bd97d17ac644c6" /><Relationship Type="http://schemas.openxmlformats.org/officeDocument/2006/relationships/image" Target="/ppt/media/image24.png" Id="Rdb48cd92eeba41d0" /><Relationship Type="http://schemas.openxmlformats.org/officeDocument/2006/relationships/image" Target="/ppt/media/image25.png" Id="R5de54bbf11c54cfd" /><Relationship Type="http://schemas.openxmlformats.org/officeDocument/2006/relationships/image" Target="/ppt/media/image26.png" Id="Rb8afad63630c40d7" /><Relationship Type="http://schemas.openxmlformats.org/officeDocument/2006/relationships/image" Target="/ppt/media/image27.png" Id="R720594b96a224eb8" /><Relationship Type="http://schemas.openxmlformats.org/officeDocument/2006/relationships/notesSlide" Target="/ppt/notesSlides/notesSlide8.xml" Id="Rd3f02cc6c5e247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7058cb06a64a56" /><Relationship Type="http://schemas.openxmlformats.org/officeDocument/2006/relationships/image" Target="/ppt/media/image.png" Id="R2de49dcf626b4a5f" /><Relationship Type="http://schemas.openxmlformats.org/officeDocument/2006/relationships/image" Target="/ppt/media/image2.png" Id="Rc1b89db18a584d1c" /><Relationship Type="http://schemas.openxmlformats.org/officeDocument/2006/relationships/image" Target="/ppt/media/image28.png" Id="R3458806ee4e945c6" /><Relationship Type="http://schemas.openxmlformats.org/officeDocument/2006/relationships/image" Target="/ppt/media/image29.png" Id="R4668d033554e4662" /><Relationship Type="http://schemas.openxmlformats.org/officeDocument/2006/relationships/notesSlide" Target="/ppt/notesSlides/notesSlide9.xml" Id="R5adcfcec1b9c44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2a7ab2d019425f" /><Relationship Type="http://schemas.openxmlformats.org/officeDocument/2006/relationships/image" Target="/ppt/media/image.png" Id="R83c174d18d0e4138" /><Relationship Type="http://schemas.openxmlformats.org/officeDocument/2006/relationships/image" Target="/ppt/media/image2.png" Id="R07221e229b9b4636" /><Relationship Type="http://schemas.openxmlformats.org/officeDocument/2006/relationships/image" Target="/ppt/media/image30.png" Id="R2d6d1620d44b4b3c" /><Relationship Type="http://schemas.openxmlformats.org/officeDocument/2006/relationships/image" Target="/ppt/media/image31.png" Id="R34331fe1435c44c8" /><Relationship Type="http://schemas.openxmlformats.org/officeDocument/2006/relationships/image" Target="/ppt/media/image32.png" Id="R6085a6dd6ecb46d9" /><Relationship Type="http://schemas.openxmlformats.org/officeDocument/2006/relationships/image" Target="/ppt/media/image33.png" Id="R35e72ab786cc479a" /><Relationship Type="http://schemas.openxmlformats.org/officeDocument/2006/relationships/image" Target="/ppt/media/image34.png" Id="R784c164ad8ee476c" /><Relationship Type="http://schemas.openxmlformats.org/officeDocument/2006/relationships/image" Target="/ppt/media/image35.png" Id="Rd29f76cd063b4d4e" /><Relationship Type="http://schemas.openxmlformats.org/officeDocument/2006/relationships/notesSlide" Target="/ppt/notesSlides/notesSlide10.xml" Id="Re86759cc489849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72c87906b84cd7" /><Relationship Type="http://schemas.openxmlformats.org/officeDocument/2006/relationships/image" Target="/ppt/media/image.png" Id="R7928c50496d643af" /><Relationship Type="http://schemas.openxmlformats.org/officeDocument/2006/relationships/image" Target="/ppt/media/image2.png" Id="R64adc4c093f64efc" /><Relationship Type="http://schemas.openxmlformats.org/officeDocument/2006/relationships/image" Target="/ppt/media/image36.png" Id="R3cb78c5ac73b4bf3" /><Relationship Type="http://schemas.openxmlformats.org/officeDocument/2006/relationships/image" Target="/ppt/media/image37.png" Id="Rbbd420b84700412a" /><Relationship Type="http://schemas.openxmlformats.org/officeDocument/2006/relationships/image" Target="/ppt/media/image38.png" Id="R812e6c6e174641ac" /><Relationship Type="http://schemas.openxmlformats.org/officeDocument/2006/relationships/image" Target="/ppt/media/image39.png" Id="R88a9e9d8e94342aa" /><Relationship Type="http://schemas.openxmlformats.org/officeDocument/2006/relationships/image" Target="/ppt/media/image40.png" Id="Rc580decae4ec40b6" /><Relationship Type="http://schemas.openxmlformats.org/officeDocument/2006/relationships/image" Target="/ppt/media/image41.png" Id="R2170acb02df74500" /><Relationship Type="http://schemas.openxmlformats.org/officeDocument/2006/relationships/image" Target="/ppt/media/image42.png" Id="R84c3ca72b69b4ce8" /><Relationship Type="http://schemas.openxmlformats.org/officeDocument/2006/relationships/notesSlide" Target="/ppt/notesSlides/notesSlide11.xml" Id="R75414de39b5d42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ae237ff87f4719" /><Relationship Type="http://schemas.openxmlformats.org/officeDocument/2006/relationships/image" Target="/ppt/media/image.png" Id="Rf261cd402bdd44a8" /><Relationship Type="http://schemas.openxmlformats.org/officeDocument/2006/relationships/image" Target="/ppt/media/image2.png" Id="R94c9dad0008f4847" /><Relationship Type="http://schemas.openxmlformats.org/officeDocument/2006/relationships/image" Target="/ppt/media/image43.png" Id="R4cbd8abbfbb54715" /><Relationship Type="http://schemas.openxmlformats.org/officeDocument/2006/relationships/notesSlide" Target="/ppt/notesSlides/notesSlide12.xml" Id="R68da579043694e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9e965ea640452a" /><Relationship Type="http://schemas.openxmlformats.org/officeDocument/2006/relationships/image" Target="/ppt/media/image.png" Id="Re12d656c673d4fd4" /><Relationship Type="http://schemas.openxmlformats.org/officeDocument/2006/relationships/image" Target="/ppt/media/image2.png" Id="R0c0eac799e94427b" /><Relationship Type="http://schemas.openxmlformats.org/officeDocument/2006/relationships/image" Target="/ppt/media/image44.png" Id="R611b74c462d44559" /><Relationship Type="http://schemas.openxmlformats.org/officeDocument/2006/relationships/image" Target="/ppt/media/image45.png" Id="R6abab2cbaf8f4373" /><Relationship Type="http://schemas.openxmlformats.org/officeDocument/2006/relationships/image" Target="/ppt/media/image46.png" Id="R577638b7686145c4" /><Relationship Type="http://schemas.openxmlformats.org/officeDocument/2006/relationships/image" Target="/ppt/media/image47.png" Id="Rc7edd2ec4f1d4761" /><Relationship Type="http://schemas.openxmlformats.org/officeDocument/2006/relationships/notesSlide" Target="/ppt/notesSlides/notesSlide13.xml" Id="R82f39322a1c743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1237c170bf4318" /><Relationship Type="http://schemas.openxmlformats.org/officeDocument/2006/relationships/image" Target="/ppt/media/image.png" Id="R53cbf83a17314e6e" /><Relationship Type="http://schemas.openxmlformats.org/officeDocument/2006/relationships/image" Target="/ppt/media/image2.png" Id="Rab6b1e49dd9c414c" /><Relationship Type="http://schemas.openxmlformats.org/officeDocument/2006/relationships/image" Target="/ppt/media/image48.png" Id="Rf12e5b1912e84f39" /><Relationship Type="http://schemas.openxmlformats.org/officeDocument/2006/relationships/notesSlide" Target="/ppt/notesSlides/notesSlide14.xml" Id="Rb15a50303f6444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f1a88df79c422f" /><Relationship Type="http://schemas.openxmlformats.org/officeDocument/2006/relationships/image" Target="/ppt/media/image.png" Id="Rc88aa0025b7b4149" /><Relationship Type="http://schemas.openxmlformats.org/officeDocument/2006/relationships/image" Target="/ppt/media/image2.png" Id="R8884f37450ae4f4b" /><Relationship Type="http://schemas.openxmlformats.org/officeDocument/2006/relationships/image" Target="/ppt/media/image49.png" Id="R3583e9b968334eec" /><Relationship Type="http://schemas.openxmlformats.org/officeDocument/2006/relationships/notesSlide" Target="/ppt/notesSlides/notesSlide15.xml" Id="Rf09283989b7741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5b96990d9041eb" /><Relationship Type="http://schemas.openxmlformats.org/officeDocument/2006/relationships/image" Target="/ppt/media/image.png" Id="R7487dfd451604f23" /><Relationship Type="http://schemas.openxmlformats.org/officeDocument/2006/relationships/image" Target="/ppt/media/image2.png" Id="Rad73814bde9a4968" /><Relationship Type="http://schemas.openxmlformats.org/officeDocument/2006/relationships/image" Target="/ppt/media/image50.png" Id="R03a9cd4ee50f4015" /><Relationship Type="http://schemas.openxmlformats.org/officeDocument/2006/relationships/notesSlide" Target="/ppt/notesSlides/notesSlide16.xml" Id="R4e106ca16c4d47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c04b57780b44ae" /><Relationship Type="http://schemas.openxmlformats.org/officeDocument/2006/relationships/image" Target="/ppt/media/image.png" Id="R342986b1ef174ab6" /><Relationship Type="http://schemas.openxmlformats.org/officeDocument/2006/relationships/image" Target="/ppt/media/image2.png" Id="Re20a656418444b79" /><Relationship Type="http://schemas.openxmlformats.org/officeDocument/2006/relationships/image" Target="/ppt/media/image51.png" Id="R67842e2310c8409a" /><Relationship Type="http://schemas.openxmlformats.org/officeDocument/2006/relationships/notesSlide" Target="/ppt/notesSlides/notesSlide17.xml" Id="R26e5f76af58d4d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a57c5b72e2489c" /><Relationship Type="http://schemas.openxmlformats.org/officeDocument/2006/relationships/image" Target="/ppt/media/image.png" Id="Re9b7281725ad46f5" /><Relationship Type="http://schemas.openxmlformats.org/officeDocument/2006/relationships/image" Target="/ppt/media/image2.png" Id="Rb09852c403044f90" /><Relationship Type="http://schemas.openxmlformats.org/officeDocument/2006/relationships/image" Target="/ppt/media/image52.png" Id="Rad0cb5b6a0a64ecb" /><Relationship Type="http://schemas.openxmlformats.org/officeDocument/2006/relationships/notesSlide" Target="/ppt/notesSlides/notesSlide18.xml" Id="R97f68c9060ad47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c5be9e85524d65" /><Relationship Type="http://schemas.openxmlformats.org/officeDocument/2006/relationships/image" Target="/ppt/media/image.png" Id="R156a1208a717451c" /><Relationship Type="http://schemas.openxmlformats.org/officeDocument/2006/relationships/image" Target="/ppt/media/image2.png" Id="R7551252d12c8446a" /><Relationship Type="http://schemas.openxmlformats.org/officeDocument/2006/relationships/image" Target="/ppt/media/image53.png" Id="R7c671e261cbc430e" /><Relationship Type="http://schemas.openxmlformats.org/officeDocument/2006/relationships/notesSlide" Target="/ppt/notesSlides/notesSlide19.xml" Id="R3162f2ac78a648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34a0424a794bbe" /><Relationship Type="http://schemas.openxmlformats.org/officeDocument/2006/relationships/image" Target="/ppt/media/image.png" Id="R00e9c7d2515647e5" /><Relationship Type="http://schemas.openxmlformats.org/officeDocument/2006/relationships/image" Target="/ppt/media/image2.png" Id="R274c0a7eab2c42a2" /><Relationship Type="http://schemas.openxmlformats.org/officeDocument/2006/relationships/image" Target="/ppt/media/image54.png" Id="Re02c3775a0fd4ed9" /><Relationship Type="http://schemas.openxmlformats.org/officeDocument/2006/relationships/notesSlide" Target="/ppt/notesSlides/notesSlide20.xml" Id="Rd55aba37521249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58eb57f18d4479" /><Relationship Type="http://schemas.openxmlformats.org/officeDocument/2006/relationships/image" Target="/ppt/media/image.png" Id="R3cb88f797b6746f9" /><Relationship Type="http://schemas.openxmlformats.org/officeDocument/2006/relationships/image" Target="/ppt/media/image2.png" Id="Rfc938a9a11cd4b8e" /><Relationship Type="http://schemas.openxmlformats.org/officeDocument/2006/relationships/image" Target="/ppt/media/image55.png" Id="R7d979424f1d440c0" /><Relationship Type="http://schemas.openxmlformats.org/officeDocument/2006/relationships/notesSlide" Target="/ppt/notesSlides/notesSlide21.xml" Id="R8c709df3892a4e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5be16798df485d" /><Relationship Type="http://schemas.openxmlformats.org/officeDocument/2006/relationships/image" Target="/ppt/media/image.png" Id="Rf5b9626e5eb5487d" /><Relationship Type="http://schemas.openxmlformats.org/officeDocument/2006/relationships/image" Target="/ppt/media/image2.png" Id="Rcebec9b171c141df" /><Relationship Type="http://schemas.openxmlformats.org/officeDocument/2006/relationships/image" Target="/ppt/media/image56.png" Id="R075e8119e61e412f" /><Relationship Type="http://schemas.openxmlformats.org/officeDocument/2006/relationships/image" Target="/ppt/media/image57.png" Id="Rab84469b5dc54d70" /><Relationship Type="http://schemas.openxmlformats.org/officeDocument/2006/relationships/image" Target="/ppt/media/image58.png" Id="R786a7337a2b2495a" /><Relationship Type="http://schemas.openxmlformats.org/officeDocument/2006/relationships/image" Target="/ppt/media/image59.png" Id="R79594ab8562b4f49" /><Relationship Type="http://schemas.openxmlformats.org/officeDocument/2006/relationships/image" Target="/ppt/media/image60.png" Id="Rd406384105b84568" /><Relationship Type="http://schemas.openxmlformats.org/officeDocument/2006/relationships/notesSlide" Target="/ppt/notesSlides/notesSlide22.xml" Id="Rc75ca833fff946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de0b0847f54040" /><Relationship Type="http://schemas.openxmlformats.org/officeDocument/2006/relationships/image" Target="/ppt/media/image.png" Id="R823ec106f8314d08" /><Relationship Type="http://schemas.openxmlformats.org/officeDocument/2006/relationships/image" Target="/ppt/media/image2.png" Id="R812925c6dd3b4f94" /><Relationship Type="http://schemas.openxmlformats.org/officeDocument/2006/relationships/image" Target="/ppt/media/image61.png" Id="R3f65fc923c834c0a" /><Relationship Type="http://schemas.openxmlformats.org/officeDocument/2006/relationships/notesSlide" Target="/ppt/notesSlides/notesSlide23.xml" Id="R6b963c9d3cec45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fed1d20be4964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B7A8BE4-A6C2-4414-973E-86106A32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91e3689fc4f6b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pic>
        <p:nvPicPr>
          <p:cNvPr id="1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19597b87b425d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D147371-A32E-44E8-AF0E-A61F049A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467C03C-6EF4-4BA3-9E83-39DC3AF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72" y="2040482"/>
            <a:ext cx="6560278" cy="2240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60000"/>
              </a:lnSpc>
              <a:buNone/>
            </a:pPr>
            <a:r>
              <a:rPr sz="4961" b="1">
                <a:solidFill>
                  <a:srgbClr val="0C17AA"/>
                </a:solidFill>
              </a:rPr>
              <a:t>从防守到反击：美国知识产权战略保护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0C28E9F-37B5-414D-8A62-EDD5C932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4564221"/>
            <a:ext cx="63642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超越制造卓越，掌握全球知识产权规则，在跨境竞争格局中保护品牌价值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36B6C44-BB6C-481C-92A6-7559CE8C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5594428"/>
            <a:ext cx="6364278" cy="4667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100"/>
              <a:t>叶明博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6B10F4-618A-4691-800A-52D761F2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72" y="6061157"/>
            <a:ext cx="6364278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87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202</a:t>
            </a:r>
            <a:r>
              <a:rPr sz="1587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6</a:t>
            </a:r>
            <a:r>
              <a:rPr sz="1587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年</a:t>
            </a:r>
            <a:r>
              <a:rPr sz="1587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6</a:t>
            </a:r>
            <a:r>
              <a:rPr sz="1587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月</a:t>
            </a:r>
            <a:r>
              <a:rPr sz="1587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29</a:t>
            </a:r>
            <a:r>
              <a:rPr sz="1587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日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e914985f14fcf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489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ite background">
            <a:extLst xmlns:a="http://schemas.openxmlformats.org/drawingml/2006/main">
              <a:ext uri="{FF2B5EF4-FFF2-40B4-BE49-F238E27FC236}">
                <a16:creationId xmlns:a16="http://schemas.microsoft.com/office/drawing/2014/main" id="{276D2C36-7DC6-4F76-A1B9-99A3C093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gold left rail">
            <a:extLst xmlns:a="http://schemas.openxmlformats.org/drawingml/2006/main">
              <a:ext uri="{FF2B5EF4-FFF2-40B4-BE49-F238E27FC236}">
                <a16:creationId xmlns:a16="http://schemas.microsoft.com/office/drawing/2014/main" id="{8CE617D6-2086-4BBB-A973-C0BA9196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28"/>
          </a:solidFill>
          <a:ln xmlns:a="http://schemas.openxmlformats.org/drawingml/2006/main" w="0">
            <a:solidFill>
              <a:srgbClr val="D3AA28"/>
            </a:solidFill>
            <a:prstDash val="solid"/>
          </a:ln>
        </p:spPr>
      </p:sp>
      <p:sp>
        <p:nvSpPr>
          <p:cNvPr id="3" name="intro title">
            <a:extLst xmlns:a="http://schemas.openxmlformats.org/drawingml/2006/main">
              <a:ext uri="{FF2B5EF4-FFF2-40B4-BE49-F238E27FC236}">
                <a16:creationId xmlns:a16="http://schemas.microsoft.com/office/drawing/2014/main" id="{737CCC47-6119-4E88-8163-3D340046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B2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>
                <a:solidFill>
                  <a:srgbClr val="0B273D"/>
                </a:solidFill>
                <a:latin typeface="Microsoft YaHei"/>
                <a:ea typeface="Microsoft YaHei"/>
                <a:cs typeface="Microsoft YaHei"/>
              </a:rPr>
              <a:t>主讲人简介</a:t>
            </a:r>
          </a:p>
        </p:txBody>
      </p:sp>
      <p:sp>
        <p:nvSpPr>
          <p:cNvPr id="4" name="gold title rule">
            <a:extLst xmlns:a="http://schemas.openxmlformats.org/drawingml/2006/main">
              <a:ext uri="{FF2B5EF4-FFF2-40B4-BE49-F238E27FC236}">
                <a16:creationId xmlns:a16="http://schemas.microsoft.com/office/drawing/2014/main" id="{31DF5A25-9CA2-46E9-A29B-04EC9D42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AA28"/>
            </a:solidFill>
            <a:prstDash val="solid"/>
          </a:ln>
        </p:spPr>
      </p:sp>
      <p:sp>
        <p:nvSpPr>
          <p:cNvPr id="5" name="intro subtitle">
            <a:extLst xmlns:a="http://schemas.openxmlformats.org/drawingml/2006/main">
              <a:ext uri="{FF2B5EF4-FFF2-40B4-BE49-F238E27FC236}">
                <a16:creationId xmlns:a16="http://schemas.microsoft.com/office/drawing/2014/main" id="{54DC0853-7C85-401C-928A-FA447C10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001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607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60788F"/>
                </a:solidFill>
                <a:latin typeface="Microsoft YaHei"/>
                <a:ea typeface="Microsoft YaHei"/>
                <a:cs typeface="Microsoft YaHei"/>
              </a:rPr>
              <a:t>专利审查、知识产权诉讼与品牌保护的跨境实务视角</a:t>
            </a:r>
          </a:p>
        </p:txBody>
      </p:sp>
      <p:sp>
        <p:nvSpPr>
          <p:cNvPr id="6" name="speaker name">
            <a:extLst xmlns:a="http://schemas.openxmlformats.org/drawingml/2006/main">
              <a:ext uri="{FF2B5EF4-FFF2-40B4-BE49-F238E27FC236}">
                <a16:creationId xmlns:a16="http://schemas.microsoft.com/office/drawing/2014/main" id="{D61E5622-4F06-4144-87F9-16ABC11E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0B2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>
                <a:solidFill>
                  <a:srgbClr val="0B273D"/>
                </a:solidFill>
                <a:latin typeface="Microsoft YaHei"/>
                <a:ea typeface="Microsoft YaHei"/>
                <a:cs typeface="Microsoft YaHei"/>
              </a:rPr>
              <a:t>Mingbo Ye, Esq. | 叶明博律师</a:t>
            </a:r>
          </a:p>
        </p:txBody>
      </p:sp>
      <p:sp>
        <p:nvSpPr>
          <p:cNvPr id="7" name="speaker role">
            <a:extLst xmlns:a="http://schemas.openxmlformats.org/drawingml/2006/main">
              <a:ext uri="{FF2B5EF4-FFF2-40B4-BE49-F238E27FC236}">
                <a16:creationId xmlns:a16="http://schemas.microsoft.com/office/drawing/2014/main" id="{74B94EBD-1613-456F-A171-5AB8BB7F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Of Counsel / 顾问律师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Cathay Praxis Law, A Professional Corporation</a:t>
            </a:r>
          </a:p>
        </p:txBody>
      </p:sp>
      <p:sp>
        <p:nvSpPr>
          <p:cNvPr id="8" name="speaker bullet 1">
            <a:extLst xmlns:a="http://schemas.openxmlformats.org/drawingml/2006/main">
              <a:ext uri="{FF2B5EF4-FFF2-40B4-BE49-F238E27FC236}">
                <a16:creationId xmlns:a16="http://schemas.microsoft.com/office/drawing/2014/main" id="{E5B33D94-0BFB-4D6B-B7B9-13B208F9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美国德州、加州执业律师 / 中国专利代理人资格</a:t>
            </a:r>
          </a:p>
        </p:txBody>
      </p:sp>
      <p:sp>
        <p:nvSpPr>
          <p:cNvPr id="9" name="speaker bullet 2">
            <a:extLst xmlns:a="http://schemas.openxmlformats.org/drawingml/2006/main">
              <a:ext uri="{FF2B5EF4-FFF2-40B4-BE49-F238E27FC236}">
                <a16:creationId xmlns:a16="http://schemas.microsoft.com/office/drawing/2014/main" id="{770A4199-BBA1-43E3-B928-6B31A5AC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UCLA 法学院 / 北京大学 / 华东政法大学</a:t>
            </a:r>
          </a:p>
        </p:txBody>
      </p:sp>
      <p:sp>
        <p:nvSpPr>
          <p:cNvPr id="10" name="speaker bullet 3">
            <a:extLst xmlns:a="http://schemas.openxmlformats.org/drawingml/2006/main">
              <a:ext uri="{FF2B5EF4-FFF2-40B4-BE49-F238E27FC236}">
                <a16:creationId xmlns:a16="http://schemas.microsoft.com/office/drawing/2014/main" id="{DABEE5C7-60E1-49CB-BCD7-8DC71732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前中国国家知识产权局专利审查员七年；</a:t>
            </a:r>
          </a:p>
          <a:p xmlns:a="http://schemas.openxmlformats.org/drawingml/2006/main">
            <a:pPr algn="l">
              <a:defRPr sz="172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曾任职于 Kilpatrick Townsend &amp; Stockton LLP 三年</a:t>
            </a:r>
          </a:p>
        </p:txBody>
      </p:sp>
      <p:sp>
        <p:nvSpPr>
          <p:cNvPr id="11" name="speaker bullet 4">
            <a:extLst xmlns:a="http://schemas.openxmlformats.org/drawingml/2006/main">
              <a:ext uri="{FF2B5EF4-FFF2-40B4-BE49-F238E27FC236}">
                <a16:creationId xmlns:a16="http://schemas.microsoft.com/office/drawing/2014/main" id="{9DAB0241-53D8-4BA1-AA85-FB57F590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重点服务：知识产权诉讼、商标申请与组合管理、跨境知识产权战略与争议解决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72df7ed794254"/>
          <a:srcRect xmlns:a="http://schemas.openxmlformats.org/drawingml/2006/main" l="0" t="250" r="0" b="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2000250"/>
            <a:ext cx="3714750" cy="5572125"/>
          </a:xfrm>
          <a:prstGeom xmlns:a="http://schemas.openxmlformats.org/drawingml/2006/main" prst="rect">
            <a:avLst/>
          </a:prstGeom>
        </p:spPr>
      </p:pic>
      <p:sp>
        <p:nvSpPr>
          <p:cNvPr id="13" name="intro footer">
            <a:extLst xmlns:a="http://schemas.openxmlformats.org/drawingml/2006/main">
              <a:ext uri="{FF2B5EF4-FFF2-40B4-BE49-F238E27FC236}">
                <a16:creationId xmlns:a16="http://schemas.microsoft.com/office/drawing/2014/main" id="{3943E6FC-0199-4800-AB9A-E2DF2D7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4395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07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0788F"/>
                </a:solidFill>
                <a:latin typeface="Microsoft YaHei"/>
                <a:ea typeface="Microsoft YaHei"/>
                <a:cs typeface="Microsoft YaHei"/>
              </a:rPr>
              <a:t>Cathay Praxis Law P.C. | Attorney Advertising / General Information Only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f37a7bf974cad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99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b2263b2a446c7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719108B-2EA4-4A8B-A4B5-62389B07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ca8592b0c43ca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B1AAD37-CA96-42ED-AAAC-32AEBE50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4322835"/>
            <a:ext cx="7029122" cy="4978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19999"/>
              </a:lnSpc>
              <a:buNone/>
            </a:pPr>
            <a:r>
              <a:rPr sz="3333" b="1">
                <a:solidFill>
                  <a:srgbClr val="0C17AA"/>
                </a:solidFill>
              </a:rPr>
              <a:t>目录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3BBFF67-BF29-40FA-83F0-4619FEE0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1192590"/>
            <a:ext cx="7029122" cy="67585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E04493E-2A94-42A7-9448-12F62530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1192590"/>
            <a:ext cx="7029122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1836137-FB19-4954-BED9-3FE7485D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1192590"/>
            <a:ext cx="702912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500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01. 惊醒时刻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795E1EF-DE50-463E-BCE9-EDFADB2A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1690434"/>
            <a:ext cx="7029122" cy="311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666" b="1">
                <a:solidFill>
                  <a:srgbClr val="000000"/>
                </a:solidFill>
              </a:rPr>
              <a:t>知识产权侵权的真实案例及其影响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E5074228-8361-41DD-8659-8C511493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2382506"/>
            <a:ext cx="7029122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86392EC-347D-4CDF-A37F-D5630CDA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2382506"/>
            <a:ext cx="702912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500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02. 实力悖论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73F67A1-1764-48D6-A7A8-995DD8FE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2880350"/>
            <a:ext cx="7029122" cy="311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666" b="1">
                <a:solidFill>
                  <a:srgbClr val="000000"/>
                </a:solidFill>
              </a:rPr>
              <a:t>为什么全球领先制造商在法律战场上依然脆弱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30C5D0A-B7EE-4B07-A27E-E98A1C4C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3572422"/>
            <a:ext cx="7029122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A77F51D-AA81-4B48-A9BA-50C6057E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3572422"/>
            <a:ext cx="702912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500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03. 美国知识产权框架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9DAA27F-EBE9-48E7-834D-19D6A99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4070266"/>
            <a:ext cx="7029122" cy="311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666" b="1">
                <a:solidFill>
                  <a:srgbClr val="000000"/>
                </a:solidFill>
              </a:rPr>
              <a:t>了解四大支柱：商标、专利、版权和商业秘密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5A5B49B7-905F-4574-A2B4-4B58385E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4762338"/>
            <a:ext cx="7029122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CD90F2F-4D70-4C4E-8FCA-8A0E9C7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4762338"/>
            <a:ext cx="702912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500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04. 战术防御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96012D8-A0A4-44C5-BDA4-47214144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5260182"/>
            <a:ext cx="7029122" cy="311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666" b="1">
                <a:solidFill>
                  <a:srgbClr val="000000"/>
                </a:solidFill>
              </a:rPr>
              <a:t>源头控制、早期布局和平台级防御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715CC6FA-9BEC-4606-89FE-9E890303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5952254"/>
            <a:ext cx="7029122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4470801-160C-4B5C-88C8-EC51CB6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5952254"/>
            <a:ext cx="702912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500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05. 反击的艺术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2DBD90A7-463F-4424-980B-9A769ADB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6450098"/>
            <a:ext cx="7029122" cy="311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666" b="1">
                <a:solidFill>
                  <a:srgbClr val="000000"/>
                </a:solidFill>
              </a:rPr>
              <a:t>利用法律"重武器"扭转不利局面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8B769246-7470-4B7E-89B8-DCC0A116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7142170"/>
            <a:ext cx="7029122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2655B42D-A969-4712-917B-75CEDC83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7142170"/>
            <a:ext cx="702912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500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06. 战略演进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A4B976F-0EFA-4B8F-99EB-D6986417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70" y="7640014"/>
            <a:ext cx="7029122" cy="311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666" b="1">
                <a:solidFill>
                  <a:srgbClr val="000000"/>
                </a:solidFill>
              </a:rPr>
              <a:t>为全球化"下半场"构建系统性保护墙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23e2474ab4b0f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39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7af9c81dd4803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40FC21E-429C-434B-9642-63C2703E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262012b014e68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fbfe500514736"/>
          <a:srcRect xmlns:a="http://schemas.openxmlformats.org/drawingml/2006/main" l="0" t="561" r="0" b="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01832" cy="9144000"/>
          </a:xfrm>
          <a:prstGeom xmlns:a="http://schemas.openxmlformats.org/drawingml/2006/main" prst="rect">
            <a:avLst/>
          </a:prstGeom>
        </p:spPr>
      </p:pic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C9FA6CE-02C0-475C-A507-0C467D5F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754" y="1159530"/>
            <a:ext cx="9290080" cy="1182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</a:rPr>
              <a:t>真实警示：如何让'伪客户'将你的创新武器化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9BB2D4F-8545-4062-A6A3-9130BB7C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754" y="2625351"/>
            <a:ext cx="9290080" cy="5359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33FC5F2-16EF-4145-89CA-10492EFC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754" y="2625351"/>
            <a:ext cx="2928720" cy="3300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538dd714b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84727" y="2625351"/>
            <a:ext cx="2926776" cy="3300406"/>
          </a:xfrm>
          <a:prstGeom xmlns:a="http://schemas.openxmlformats.org/drawingml/2006/main" prst="rect">
            <a:avLst/>
          </a:prstGeom>
        </p:spPr>
      </p:pic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9C7EB7F-3C61-45F4-9C76-2E87B60A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593" y="2877190"/>
            <a:ext cx="2425042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案例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08E0D3-F74D-4CD3-9147-547E59CD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593" y="3504600"/>
            <a:ext cx="2425042" cy="1493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一家领先的中国工厂向一位看似专业的买家分享了样品、参数和技术细节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E5231D8-1007-4311-9E76-D7CABB3C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313" y="2625351"/>
            <a:ext cx="2928720" cy="3300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538dd714b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65285" y="2625351"/>
            <a:ext cx="2926776" cy="3300406"/>
          </a:xfrm>
          <a:prstGeom xmlns:a="http://schemas.openxmlformats.org/drawingml/2006/main" prst="rect">
            <a:avLst/>
          </a:prstGeom>
        </p:spPr>
      </p:pic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E3E3872-B79F-4A68-84BB-C4A15D86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152" y="2877190"/>
            <a:ext cx="2425042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复杂化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0D4ABB8-77C8-458A-9B12-7E7572CB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152" y="3504600"/>
            <a:ext cx="2425042" cy="18669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"买家"消失后，将工厂的技术注册为美国专利，随后在亚马逊上起诉工厂的分销商侵权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F6FA80BC-6C76-4812-97AA-F3B7D841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4872" y="2625351"/>
            <a:ext cx="2928720" cy="3300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538dd714b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45844" y="2625351"/>
            <a:ext cx="2926776" cy="3300406"/>
          </a:xfrm>
          <a:prstGeom xmlns:a="http://schemas.openxmlformats.org/drawingml/2006/main" prst="rect">
            <a:avLst/>
          </a:prstGeom>
        </p:spPr>
      </p:pic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DB3B8F67-623A-43BF-A2B7-4AC38B65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11" y="2877190"/>
            <a:ext cx="2425042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后果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E89E5950-0AB8-4725-9558-7AA39BC1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11" y="3504600"/>
            <a:ext cx="2425042" cy="112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分销商面临账户冻结和法律威胁，反过来向工厂施压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A40EF7C7-FD0C-4569-86B8-CA537F0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754" y="6177597"/>
            <a:ext cx="9289837" cy="180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b3c59e675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86878" y="6177597"/>
            <a:ext cx="9283591" cy="1806873"/>
          </a:xfrm>
          <a:prstGeom xmlns:a="http://schemas.openxmlformats.org/drawingml/2006/main" prst="rect">
            <a:avLst/>
          </a:prstGeom>
        </p:spPr>
      </p:pic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0EEE22F-34EF-428E-B24E-B28330E0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593" y="6429436"/>
            <a:ext cx="8786160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教训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75F0736-8A67-4EDD-BE7E-090949F1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593" y="7056846"/>
            <a:ext cx="8786160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没有提前在美国申请专利，工厂面临昂贵且耗时的专利无效和确认不侵权诉讼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c4644a2774d86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740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6bd2b4d574fb2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0FA970B-2D62-4602-A480-D90DACB2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aed995b15401b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8554E9B-189A-4CD5-ABA4-B699A9B0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359348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</a:rPr>
              <a:t>全球悖论：中国制造领先但知识产权保护落后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DB5332F-A9D3-484E-81BE-D2C44054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541242"/>
            <a:ext cx="6938694" cy="46527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78DBA75-7A65-4F06-A07E-0E80E594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019" y="2793082"/>
            <a:ext cx="3780499" cy="4978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60000"/>
              </a:lnSpc>
              <a:buNone/>
            </a:pPr>
            <a:r>
              <a:rPr sz="248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中国在全球制造业中的份额</a:t>
            </a:r>
          </a:p>
        </p:txBody>
      </p:sp>
      <p:pic>
        <p:nvPicPr>
          <p:cNvPr id="2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b3f74999943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922" y="3293522"/>
            <a:ext cx="6938694" cy="3899774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3563153-E8C8-4916-AD50-FDE466F6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699" y="3361665"/>
            <a:ext cx="6938694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核心要点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C879380-0C14-4F69-AA6C-D14D184B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4171887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88C5AA-5A60-43FE-8404-36EFD642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500" y="4096277"/>
            <a:ext cx="671189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中国是世界第一制造强国，但在国际知识产权领域仍然脆弱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73BF60A-6BC5-46CD-BB86-24CB677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4787629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4D3D33-D6F2-4B3F-BDE8-C32A613B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500" y="4712019"/>
            <a:ext cx="671189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我们擅长制造产品，但在跨境法律保护方面常常失败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99EC0A-2078-4801-AC2A-8E64BB4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540337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C51B76E-25C2-4080-BF33-48E47C55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500" y="5327761"/>
            <a:ext cx="671189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核心冲突："制造巨头"与"知识产权保护弱者"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675E6B2-127E-46CB-9C70-3AA26487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699" y="6000142"/>
            <a:ext cx="6938694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注意：尽管专利数量领先，中国在全球创新指数中排名第11位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b778c1acf4c04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800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a2e4d11814aec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51A56D7-AD36-4E04-8AB8-8089ECD7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1d4ce15124260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ca7bf39d64489"/>
          <a:srcRect xmlns:a="http://schemas.openxmlformats.org/drawingml/2006/main" l="0" t="561" r="0" b="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3924" y="0"/>
            <a:ext cx="5201832" cy="9144000"/>
          </a:xfrm>
          <a:prstGeom xmlns:a="http://schemas.openxmlformats.org/drawingml/2006/main" prst="rect">
            <a:avLst/>
          </a:prstGeom>
        </p:spPr>
      </p:pic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1142044-0200-4199-9056-863F90CC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84445"/>
            <a:ext cx="9290080" cy="1182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3889" b="1">
                <a:solidFill>
                  <a:srgbClr val="0C17AA"/>
                </a:solidFill>
              </a:rPr>
              <a:t>四大支柱：解析美国知识产权体系的特殊性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BD9840F-3E10-43AD-9644-191ADE72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239084"/>
            <a:ext cx="9290080" cy="6120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470B330-8BA7-402F-BED5-A5843B28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609550"/>
            <a:ext cx="2931880" cy="3281932"/>
          </a:xfrm>
          <a:prstGeom xmlns:a="http://schemas.openxmlformats.org/drawingml/2006/main" prst="roundRect">
            <a:avLst>
              <a:gd name="adj" fmla="val 3369"/>
            </a:avLst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4A1889C-1AAB-4930-B5B3-249CABD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07" y="2584998"/>
            <a:ext cx="2885207" cy="9869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A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26FFAA8-4199-4915-9F1B-DB50E1F1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47" y="2239085"/>
            <a:ext cx="740931" cy="74093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A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37E715A-4B7F-42DF-81F5-0F8288F1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913" y="2430637"/>
            <a:ext cx="308741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31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EF66D9B-9CA3-4718-8712-15A7D619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35" y="3226994"/>
            <a:ext cx="2391253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917" b="1">
                <a:solidFill>
                  <a:srgbClr val="0C17AA"/>
                </a:solidFill>
              </a:rPr>
              <a:t>商标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02AEC4A-29E8-4D4E-9CEF-CFA8C63B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35" y="3832040"/>
            <a:ext cx="2391253" cy="143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侧重"实际使用"；美国专利商标局联邦注册是亚马逊品牌备案和全国保护的黄金标准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AB656C0E-E917-43FD-800C-151CB5F3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779" y="2609550"/>
            <a:ext cx="2932123" cy="3281932"/>
          </a:xfrm>
          <a:prstGeom xmlns:a="http://schemas.openxmlformats.org/drawingml/2006/main" prst="roundRect">
            <a:avLst>
              <a:gd name="adj" fmla="val 3369"/>
            </a:avLst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B63CEFA2-83B3-4071-AE5A-52F87A63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564" y="2584998"/>
            <a:ext cx="2885450" cy="9869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A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43F6063A-1CB7-4892-8DD0-3A0CEB02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347" y="2239085"/>
            <a:ext cx="740931" cy="74093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A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8A1A468-2F6C-499A-B244-B54168A2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815" y="2430637"/>
            <a:ext cx="308741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31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B3FAD0-3C1E-4751-8ABD-16A0655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093" y="3226994"/>
            <a:ext cx="2391496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917" b="1">
                <a:solidFill>
                  <a:srgbClr val="0C17AA"/>
                </a:solidFill>
              </a:rPr>
              <a:t>专利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79DB0B6-0510-440D-9BCE-49086C8B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093" y="3832040"/>
            <a:ext cx="2391496" cy="1789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美国没有实用新型；必须在发明专利（功能性）或外观设计专利（美学性）之间选择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A0717D29-DFC4-47F3-8FBE-15677B21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879" y="2609550"/>
            <a:ext cx="2931880" cy="3281932"/>
          </a:xfrm>
          <a:prstGeom xmlns:a="http://schemas.openxmlformats.org/drawingml/2006/main" prst="roundRect">
            <a:avLst>
              <a:gd name="adj" fmla="val 3369"/>
            </a:avLst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8BE81592-B506-46D6-8985-EFDF9E21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64" y="2584998"/>
            <a:ext cx="2885207" cy="9869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A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8C8D8DBC-9604-4AAA-A62F-A37BDE98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205" y="2239085"/>
            <a:ext cx="740931" cy="74093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A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44E1AF6-DE15-43D4-95F4-7B5775E8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352" y="2430637"/>
            <a:ext cx="308741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31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5D7CE4F-33E3-4158-A491-7E55C399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193" y="3226994"/>
            <a:ext cx="2391253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917" b="1">
                <a:solidFill>
                  <a:srgbClr val="0C17AA"/>
                </a:solidFill>
              </a:rPr>
              <a:t>版权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64830F8-8288-4D85-8686-EC0C735C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193" y="3832040"/>
            <a:ext cx="2391253" cy="143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权利自动产生，但在美国版权局登记是诉讼和法定赔偿的必要条件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8CDF5BF5-A114-482B-85CA-233F6AA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6508926"/>
            <a:ext cx="9289837" cy="1850629"/>
          </a:xfrm>
          <a:prstGeom xmlns:a="http://schemas.openxmlformats.org/drawingml/2006/main" prst="roundRect">
            <a:avLst>
              <a:gd name="adj" fmla="val 5338"/>
            </a:avLst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43A17EBD-CF88-43B4-B930-C6B0FD93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07" y="6484374"/>
            <a:ext cx="9243165" cy="9869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A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F84CC83-132E-4ECF-94AF-4480D36B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347" y="6138460"/>
            <a:ext cx="740931" cy="74093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7A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CDBB3DC8-996C-4713-AF55-09EA0503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098" y="6330013"/>
            <a:ext cx="308741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31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474AA4F5-5961-4CC2-9709-FC761CB5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35" y="7126369"/>
            <a:ext cx="8749210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917" b="1">
                <a:solidFill>
                  <a:srgbClr val="0C17AA"/>
                </a:solidFill>
              </a:rPr>
              <a:t>商业秘密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5521D1C-F742-4343-A775-C1E07DB1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35" y="7731415"/>
            <a:ext cx="8749210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保护配方和工艺，但需要保密协议和访问控制才能强制执行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cc0e8a66544a5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883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787dfa40640d4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091D4A1-E8A7-43D6-9F3A-A2936611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39a3d44394488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F8A342D-16C2-48BB-8731-D8447459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94169"/>
            <a:ext cx="1449191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579" b="1">
                <a:solidFill>
                  <a:srgbClr val="0C17AA"/>
                </a:solidFill>
              </a:rPr>
              <a:t>弥合认知差距：扼杀海外发展的五大误区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0726E58-25D4-40C3-8B8C-698D6152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302709"/>
            <a:ext cx="14491913" cy="7046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95C38DE-9553-4FA8-AC1A-35D5F1FF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302709"/>
            <a:ext cx="8695245" cy="15312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E5D4E699-624F-42C6-9B77-F99217C3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80" y="1318266"/>
            <a:ext cx="982803" cy="1500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B2A574B-9459-49CE-8F68-0F1D470D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136" y="1951511"/>
            <a:ext cx="204777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1</a:t>
            </a:r>
          </a:p>
        </p:txBody>
      </p:sp>
      <p:pic>
        <p:nvPicPr>
          <p:cNvPr id="7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99079218245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0328" y="1986516"/>
            <a:ext cx="102249" cy="163598"/>
          </a:xfrm>
          <a:prstGeom xmlns:a="http://schemas.openxmlformats.org/drawingml/2006/main" prst="rect">
            <a:avLst/>
          </a:prstGeom>
        </p:spPr>
      </p:pic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D2BF1DF-146E-43F1-B98D-89D58128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1481865"/>
            <a:ext cx="3604260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</a:rPr>
              <a:t>差距1 - 地域性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200CBBE-005D-449C-B517-B1A46EB1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1789614"/>
            <a:ext cx="3604260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国内专利在美国没有法律效力；保护必须跟随市场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EEB8973-952D-4B48-9D20-088C8010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" y="2146510"/>
            <a:ext cx="163822" cy="163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9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2A422CF-FD52-4F21-ACB6-AEE21272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75" y="2097364"/>
            <a:ext cx="3544704" cy="248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需要在美国USPTO重新申请才能获得保护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F4A50F-4D5C-440A-BA1A-4AC58F58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" y="2454989"/>
            <a:ext cx="163822" cy="163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9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BA71726-246B-4055-87A7-AB2B22BA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75" y="2405842"/>
            <a:ext cx="3544704" cy="248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跨境销售前务必完成目标市场的专利布局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7984DF-36AB-4FB5-AEF4-A25A883B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501" y="4686008"/>
            <a:ext cx="3043251" cy="280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20000"/>
              </a:lnSpc>
              <a:buNone/>
            </a:pPr>
            <a:r>
              <a:rPr sz="1934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</a:rPr>
              <a:t>五大关键差距</a:t>
            </a:r>
          </a:p>
        </p:txBody>
      </p:sp>
      <p:pic>
        <p:nvPicPr>
          <p:cNvPr id="85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5f75749d04e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7167" y="1304517"/>
            <a:ext cx="5796668" cy="7043263"/>
          </a:xfrm>
          <a:prstGeom xmlns:a="http://schemas.openxmlformats.org/drawingml/2006/main" prst="rect">
            <a:avLst/>
          </a:prstGeom>
        </p:spPr>
      </p:pic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B3AFAA29-63B6-4D52-B55D-DE1461E9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997519"/>
            <a:ext cx="8695245" cy="15312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A79736C4-3EE0-4E51-8ECC-577F7DAA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80" y="3013076"/>
            <a:ext cx="982803" cy="1500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2E7898AC-EF6B-423F-8D41-E04AD101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419" y="3646321"/>
            <a:ext cx="204777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2</a:t>
            </a:r>
          </a:p>
        </p:txBody>
      </p:sp>
      <p:pic>
        <p:nvPicPr>
          <p:cNvPr id="89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99079218245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0328" y="3681325"/>
            <a:ext cx="102249" cy="163598"/>
          </a:xfrm>
          <a:prstGeom xmlns:a="http://schemas.openxmlformats.org/drawingml/2006/main" prst="rect">
            <a:avLst/>
          </a:prstGeom>
        </p:spPr>
      </p:pic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8117B4F-733D-41DE-82C2-9DC9D4ED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3176675"/>
            <a:ext cx="4259382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</a:rPr>
              <a:t>差距2 - 制度漏洞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B5B653D-31D5-4426-AF5C-C3F157B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3484424"/>
            <a:ext cx="4259382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欺诈者利用美国专利局对外国工厂未公开现有技术的不了解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4D7F728-71DC-41B5-A4F3-B6C693D6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" y="3841320"/>
            <a:ext cx="163822" cy="163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9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D125C6E-DA91-47A5-8FC7-E0DDACEA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75" y="3792174"/>
            <a:ext cx="4199825" cy="248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抢注者利用"在先技术"审查盲区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09B8309-2D4B-4892-9A23-1F924A07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" y="4149799"/>
            <a:ext cx="163822" cy="163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9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5B1D1B-236C-473D-B6C6-78D89CA0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75" y="4100652"/>
            <a:ext cx="4199825" cy="248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只要技术未公开披露就可能成功获得专利</a:t>
            </a:r>
          </a:p>
        </p:txBody>
      </p:sp>
      <p:pic>
        <p:nvPicPr>
          <p:cNvPr id="9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0297b057840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7167" y="1304517"/>
            <a:ext cx="5796668" cy="7043263"/>
          </a:xfrm>
          <a:prstGeom xmlns:a="http://schemas.openxmlformats.org/drawingml/2006/main" prst="rect">
            <a:avLst/>
          </a:prstGeom>
        </p:spPr>
      </p:pic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78445025-B343-47E9-962E-6589E4F8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4692329"/>
            <a:ext cx="8695245" cy="15312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01A4DECB-1B42-4E84-A465-E14D7F78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80" y="4707886"/>
            <a:ext cx="982803" cy="1500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59ADFC4-1662-45CE-9B05-CA548F9F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86" y="5341131"/>
            <a:ext cx="204777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3</a:t>
            </a:r>
          </a:p>
        </p:txBody>
      </p:sp>
      <p:pic>
        <p:nvPicPr>
          <p:cNvPr id="100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99079218245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0328" y="5376135"/>
            <a:ext cx="102249" cy="163598"/>
          </a:xfrm>
          <a:prstGeom xmlns:a="http://schemas.openxmlformats.org/drawingml/2006/main" prst="rect">
            <a:avLst/>
          </a:prstGeom>
        </p:spPr>
      </p:pic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EF631C94-AE1F-4442-91DC-0849124B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4871484"/>
            <a:ext cx="5184330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</a:rPr>
              <a:t>差距3 - 小商品风险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76527CB8-6D80-494D-B0C3-7EE36FB0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5179234"/>
            <a:ext cx="5184330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厨房工具、手机支架等低成本商品因销量大成为外观专利侵权的"重灾区"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C34F63B-A2BD-4A54-9704-1FFBDCE5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" y="5536130"/>
            <a:ext cx="163822" cy="163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9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079E7F9-4651-4600-95F8-ED48BCE6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75" y="5486983"/>
            <a:ext cx="5124774" cy="248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义乌小商品外观专利纠纷年超1000件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9127A47A-1F92-47CC-B7B8-B38679AF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643" y="5844609"/>
            <a:ext cx="163822" cy="163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9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220ABF02-63E6-4502-91CD-890B8863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75" y="5795462"/>
            <a:ext cx="5124774" cy="248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平台累计授权6000+外观专利</a:t>
            </a:r>
          </a:p>
        </p:txBody>
      </p:sp>
      <p:pic>
        <p:nvPicPr>
          <p:cNvPr id="107" name="Picture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3fd69c2bd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7167" y="1304517"/>
            <a:ext cx="5796668" cy="7043263"/>
          </a:xfrm>
          <a:prstGeom xmlns:a="http://schemas.openxmlformats.org/drawingml/2006/main" prst="rect">
            <a:avLst/>
          </a:prstGeom>
        </p:spPr>
      </p:pic>
      <p:sp>
        <p:nvSpPr>
          <p:cNvPr id="41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EB1CE53A-0BF8-49B5-A418-03E0CE63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6387138"/>
            <a:ext cx="8695245" cy="8994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6E509AE1-EF8E-4961-B82F-6FFEBAFB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80" y="6402696"/>
            <a:ext cx="982803" cy="868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2B1AD2BB-DA90-4A74-9D3E-B884C62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021" y="6720169"/>
            <a:ext cx="204777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4</a:t>
            </a:r>
          </a:p>
        </p:txBody>
      </p:sp>
      <p:pic>
        <p:nvPicPr>
          <p:cNvPr id="111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99079218245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0328" y="6754931"/>
            <a:ext cx="102249" cy="163598"/>
          </a:xfrm>
          <a:prstGeom xmlns:a="http://schemas.openxmlformats.org/drawingml/2006/main" prst="rect">
            <a:avLst/>
          </a:prstGeom>
        </p:spPr>
      </p:pic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7C2C7149-FC86-4D27-85D3-8B32D75D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6566294"/>
            <a:ext cx="4095541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</a:rPr>
              <a:t>差距4 - 商标与销售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AF26D1B-A7BC-45DB-9159-2EBEB7BB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6874044"/>
            <a:ext cx="4095541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大多数卖家等到产品爆火才注册，往往发现品牌已被抢注</a:t>
            </a:r>
          </a:p>
        </p:txBody>
      </p:sp>
      <p:pic>
        <p:nvPicPr>
          <p:cNvPr id="114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f798516284b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7167" y="1304517"/>
            <a:ext cx="5796668" cy="7043263"/>
          </a:xfrm>
          <a:prstGeom xmlns:a="http://schemas.openxmlformats.org/drawingml/2006/main" prst="rect">
            <a:avLst/>
          </a:prstGeom>
        </p:spPr>
      </p:pic>
      <p:sp>
        <p:nvSpPr>
          <p:cNvPr id="48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76E3D2CD-352A-41F7-A860-E5AECE4C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450162"/>
            <a:ext cx="8695245" cy="8994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F35CA278-4802-43B3-B585-3921BAF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80" y="7465720"/>
            <a:ext cx="982803" cy="868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0BE794C-50F1-4EEA-A829-0454439F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68" y="7783193"/>
            <a:ext cx="204777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5</a:t>
            </a:r>
          </a:p>
        </p:txBody>
      </p:sp>
      <p:pic>
        <p:nvPicPr>
          <p:cNvPr id="118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99079218245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0328" y="7817955"/>
            <a:ext cx="102249" cy="163598"/>
          </a:xfrm>
          <a:prstGeom xmlns:a="http://schemas.openxmlformats.org/drawingml/2006/main" prst="rect">
            <a:avLst/>
          </a:prstGeom>
        </p:spPr>
      </p:pic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83161C97-E8D9-4FB0-9FC3-A3F153B2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7629318"/>
            <a:ext cx="3849050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612" b="1">
                <a:solidFill>
                  <a:srgbClr val="0C17AA"/>
                </a:solidFill>
              </a:rPr>
              <a:t>差距5 - 平台与法庭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509D6716-A983-4B94-8C56-61A6CA33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9" y="7937068"/>
            <a:ext cx="3849050" cy="2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289" b="1">
                <a:solidFill>
                  <a:srgbClr val="000000"/>
                </a:solidFill>
              </a:rPr>
              <a:t>亚马逊优先看"证书"而非真相——手握证书者掌握权力</a:t>
            </a:r>
          </a:p>
        </p:txBody>
      </p:sp>
      <p:pic>
        <p:nvPicPr>
          <p:cNvPr id="121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ed8c322c34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7167" y="1304517"/>
            <a:ext cx="5796668" cy="7043263"/>
          </a:xfrm>
          <a:prstGeom xmlns:a="http://schemas.openxmlformats.org/drawingml/2006/main" prst="rect">
            <a:avLst/>
          </a:prstGeom>
        </p:spPr>
      </p:pic>
      <p:sp>
        <p:nvSpPr>
          <p:cNvPr id="55" name="AutoShape 55">
            <a:extLst xmlns:a="http://schemas.openxmlformats.org/drawingml/2006/main">
              <a:ext uri="{FF2B5EF4-FFF2-40B4-BE49-F238E27FC236}">
                <a16:creationId xmlns:a16="http://schemas.microsoft.com/office/drawing/2014/main" id="{88D45C87-A5CF-4E05-AF69-B88195F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501" y="3376982"/>
            <a:ext cx="2898334" cy="28983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4b08922a84702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18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9dbd18c084cd2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74A787A-ABB7-42AF-B457-D5EEB6AF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302805a3b4827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FB21E1C-BAFD-41D0-92DA-EDF00F2E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85417"/>
            <a:ext cx="14491913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056" b="1">
                <a:solidFill>
                  <a:srgbClr val="0C17AA"/>
                </a:solidFill>
              </a:rPr>
              <a:t>防御策略一：保护源头，堵住技术泄露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8E99360-3B54-4A1B-A7C2-F7530EB1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404563"/>
            <a:ext cx="14491913" cy="6954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45BD60B-B86B-45AE-BDDC-AF564A6F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889523"/>
            <a:ext cx="7124656" cy="2846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3097D8E-113F-4F28-BDB3-C0AA7061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889523"/>
            <a:ext cx="7124656" cy="2846561"/>
          </a:xfrm>
          <a:prstGeom xmlns:a="http://schemas.openxmlformats.org/drawingml/2006/main" prst="roundRect">
            <a:avLst>
              <a:gd name="adj" fmla="val 2386"/>
            </a:avLst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d97d17ac644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1564" y="1913711"/>
            <a:ext cx="145609" cy="145609"/>
          </a:xfrm>
          <a:prstGeom xmlns:a="http://schemas.openxmlformats.org/drawingml/2006/main" prst="rect">
            <a:avLst/>
          </a:prstGeom>
        </p:spPr>
      </p:pic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E21BCBD8-DFB8-4877-A346-D8C02FD3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889523"/>
            <a:ext cx="7124656" cy="1939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DBC6AD4-FFEE-471B-AF7E-712CD948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06" y="2277492"/>
            <a:ext cx="6736688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292" b="1">
                <a:solidFill>
                  <a:srgbClr val="0C17AA"/>
                </a:solidFill>
              </a:rPr>
              <a:t>第一步 - 强制保密协议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3A1F74E-3FA1-4BA0-88F0-2E29371C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06" y="2724288"/>
            <a:ext cx="6736688" cy="280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未签署保密协议前绝不分享技术规格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5D9200A-646F-4E0A-B9FF-3B094BA3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0" y="3167073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169052B-7045-4893-ABB0-46E26BA6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28" y="3108853"/>
            <a:ext cx="6653066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技术规格文档必须纳入NDA保护范围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E16B79-28C8-4432-882B-D75F91E6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0" y="3546290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560845-6587-4D2E-8D19-89C23B92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28" y="3488070"/>
            <a:ext cx="6653066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材料清单（BOM）作为核心机密管控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6B063B4-2A8D-40C4-BDE5-DCEB3E5B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0" y="3925508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F4237-950D-4735-B3D7-D9C713D2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28" y="3867288"/>
            <a:ext cx="6653066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配方工艺参数需单独签署专项保密条款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08B3120-9714-4E6D-8B73-B176272C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0" y="4304725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70B42C-978A-4593-BA82-1BF6D3FC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28" y="4246505"/>
            <a:ext cx="6653066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NDA是后续维权诉讼的关键证据材料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7DAEEA36-AD11-4B4E-8049-240CEBD1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936" y="1598547"/>
            <a:ext cx="7124899" cy="31375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B13B7118-79B3-4803-90C8-F0A33FD0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936" y="1598547"/>
            <a:ext cx="7124899" cy="3137537"/>
          </a:xfrm>
          <a:prstGeom xmlns:a="http://schemas.openxmlformats.org/drawingml/2006/main" prst="roundRect">
            <a:avLst>
              <a:gd name="adj" fmla="val 2164"/>
            </a:avLst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5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8cd92eeba41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8037" y="1602193"/>
            <a:ext cx="186692" cy="186692"/>
          </a:xfrm>
          <a:prstGeom xmlns:a="http://schemas.openxmlformats.org/drawingml/2006/main" prst="rect">
            <a:avLst/>
          </a:prstGeom>
        </p:spPr>
      </p:pic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5B4DDFCA-30C7-4425-8FF7-8345AC23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936" y="1598547"/>
            <a:ext cx="7124899" cy="1939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0118C90-0653-4492-8926-78AC0554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920" y="1986516"/>
            <a:ext cx="6736931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292" b="1">
                <a:solidFill>
                  <a:srgbClr val="0C17AA"/>
                </a:solidFill>
              </a:rPr>
              <a:t>第二步 - 分阶段披露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A9AEE35-83FE-41C0-88E3-CF4B7A35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920" y="2433311"/>
            <a:ext cx="6736931" cy="280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随着合作深入和定金到位，逐步释放信息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317201D-F93C-42D2-B991-04F35894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444" y="2876096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0058E71-DFC3-4D1A-ABC8-42F255EB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542" y="2817877"/>
            <a:ext cx="6653309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第一阶段：仅提供产品基本参数和外观尺寸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2899FD17-DDF8-4FC6-AAED-DF89C742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444" y="3255314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D0DC123-EB95-4D96-9B1C-02659B31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542" y="3197094"/>
            <a:ext cx="6653309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第二阶段：提供完整功能说明和技术原理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F3DB1AF-9736-460E-8CD3-66E965C8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444" y="3634531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3B5D84A-7851-4170-9CFA-4775D617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542" y="3576311"/>
            <a:ext cx="6653309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第三阶段：签署正式合同并收取定金后交付核心工艺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9A475144-1028-4DAB-A766-ADA5080C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444" y="4013748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22791264-3AED-4E43-9815-6092C8BB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542" y="3955529"/>
            <a:ext cx="6653309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量产后：交付完整技术文件和量产指导书</a:t>
            </a: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49E2DA4A-F780-424A-B2EA-B54F7173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5512021"/>
            <a:ext cx="7124656" cy="2846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E072376C-D59F-40D7-98F0-8F2BE5E4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5512021"/>
            <a:ext cx="7124656" cy="2846561"/>
          </a:xfrm>
          <a:prstGeom xmlns:a="http://schemas.openxmlformats.org/drawingml/2006/main" prst="roundRect">
            <a:avLst>
              <a:gd name="adj" fmla="val 2386"/>
            </a:avLst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9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54bbf11c54c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023" y="5515668"/>
            <a:ext cx="186692" cy="186692"/>
          </a:xfrm>
          <a:prstGeom xmlns:a="http://schemas.openxmlformats.org/drawingml/2006/main" prst="rect">
            <a:avLst/>
          </a:prstGeom>
        </p:spPr>
      </p:pic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28FE5CD9-64DF-444C-9CC4-E0CA977F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5512021"/>
            <a:ext cx="7124656" cy="1939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F60DEC77-3C7C-49BD-AEF6-9DFA9298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06" y="5899990"/>
            <a:ext cx="6736688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292" b="1">
                <a:solidFill>
                  <a:srgbClr val="0C17AA"/>
                </a:solidFill>
              </a:rPr>
              <a:t>第三步 - 严格记录保存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E14975-2B9E-482B-8CCB-9250498B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06" y="6346786"/>
            <a:ext cx="6736688" cy="280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保存每封邮件、聊天记录、样品寄送单和报价单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900EE442-7864-404C-80FB-1C89D27F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0" y="6789571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58D44CC8-F747-4ADE-A006-D17C0EE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28" y="6731351"/>
            <a:ext cx="6653066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商务邮件往来需完整归档备查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EF7BF19D-FC88-443B-967B-EB570A7E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0" y="7168788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627BD1AB-1F3E-4031-AD56-E81DF61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28" y="7110568"/>
            <a:ext cx="6653066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微信、钉钉等聊天记录定期备份存储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ECCA40B-AED2-417A-9E17-65DC8398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0" y="7548006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B184AB0-D3C0-42A4-B456-382CC608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28" y="7489786"/>
            <a:ext cx="6653066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报价单、合同文本需保存至少3年以上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4FC46233-75DB-413C-9E85-1C5CAB9E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0" y="7927223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E488EBC3-51D1-4590-B2CC-8855C792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28" y="7869003"/>
            <a:ext cx="6653066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样品寄送单据需与物流信息关联保存</a:t>
            </a:r>
          </a:p>
        </p:txBody>
      </p:sp>
      <p:sp>
        <p:nvSpPr>
          <p:cNvPr id="49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29C81DFD-D796-42D0-8F1E-F28F5980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936" y="5221045"/>
            <a:ext cx="7124899" cy="31375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7F71C9C6-1DEE-45D4-9DE8-D044C3BD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936" y="5221045"/>
            <a:ext cx="7124899" cy="3137537"/>
          </a:xfrm>
          <a:prstGeom xmlns:a="http://schemas.openxmlformats.org/drawingml/2006/main" prst="roundRect">
            <a:avLst>
              <a:gd name="adj" fmla="val 2164"/>
            </a:avLst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23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fad63630c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8037" y="5224691"/>
            <a:ext cx="186692" cy="186692"/>
          </a:xfrm>
          <a:prstGeom xmlns:a="http://schemas.openxmlformats.org/drawingml/2006/main" prst="rect">
            <a:avLst/>
          </a:prstGeom>
        </p:spPr>
      </p:pic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76EE126C-AAF0-403E-A054-16B2CB0D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936" y="5221045"/>
            <a:ext cx="7124899" cy="1939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4C6E4517-8BDA-4C31-95A4-15937D6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920" y="5609014"/>
            <a:ext cx="6736931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292" b="1">
                <a:solidFill>
                  <a:srgbClr val="0C17AA"/>
                </a:solidFill>
              </a:rPr>
              <a:t>第四步 - 源文件证据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AC0CA060-7BCD-42F3-81B1-A80AB9E7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920" y="6055809"/>
            <a:ext cx="6736931" cy="280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维护高分辨率设计文件和产品照片的时间戳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9CE8F785-52E4-4035-964A-C2845C42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444" y="6498595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5C417121-1460-4658-BFD2-9A36A18B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542" y="6440375"/>
            <a:ext cx="6653309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保留PSD/AI设计源文件作为原创证明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09E40CEA-012B-48D6-9AF8-3EA485C6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444" y="6877812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305BBD69-7AF0-4026-820F-5D8142C2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542" y="6819592"/>
            <a:ext cx="6653309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RAW格式原始照片不得进行任何后期处理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CD6649F5-8A8D-43C8-B9F9-81440A73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444" y="7257029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CAB896BE-15FE-4CAA-8258-AE0C17A1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542" y="7198809"/>
            <a:ext cx="6653309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拍摄设备自动生成的时间戳作为法律证据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C7189402-C96D-445B-92FC-44D6141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444" y="7636247"/>
            <a:ext cx="194066" cy="194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28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FAA4E481-1DC4-4B32-A9ED-68F16CCC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542" y="7578027"/>
            <a:ext cx="6653309" cy="295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528" b="1">
                <a:solidFill>
                  <a:srgbClr val="000000"/>
                </a:solidFill>
              </a:rPr>
              <a:t>源文件命名需包含项目代号和版本信息</a:t>
            </a:r>
          </a:p>
        </p:txBody>
      </p:sp>
      <p:sp>
        <p:nvSpPr>
          <p:cNvPr id="63" name="AutoShape 63">
            <a:extLst xmlns:a="http://schemas.openxmlformats.org/drawingml/2006/main">
              <a:ext uri="{FF2B5EF4-FFF2-40B4-BE49-F238E27FC236}">
                <a16:creationId xmlns:a16="http://schemas.microsoft.com/office/drawing/2014/main" id="{D08E1FF3-9E33-46C5-B4F8-8FBE0E07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71" y="1695540"/>
            <a:ext cx="582195" cy="5821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AutoShape 64">
            <a:extLst xmlns:a="http://schemas.openxmlformats.org/drawingml/2006/main">
              <a:ext uri="{FF2B5EF4-FFF2-40B4-BE49-F238E27FC236}">
                <a16:creationId xmlns:a16="http://schemas.microsoft.com/office/drawing/2014/main" id="{1BA6E492-101C-4077-8500-F517544E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285" y="1404563"/>
            <a:ext cx="582195" cy="5821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AutoShape 65">
            <a:extLst xmlns:a="http://schemas.openxmlformats.org/drawingml/2006/main">
              <a:ext uri="{FF2B5EF4-FFF2-40B4-BE49-F238E27FC236}">
                <a16:creationId xmlns:a16="http://schemas.microsoft.com/office/drawing/2014/main" id="{42097995-B5B0-410C-A2A3-16458EA8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71" y="5318038"/>
            <a:ext cx="582195" cy="5821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AECF54D0-8708-499B-A1E0-B88243E8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285" y="5027061"/>
            <a:ext cx="582195" cy="5821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594b96a224eb8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834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49dcf626b4a5f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1D7A75F-150C-433B-A729-0B7AB439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89db18a584d1c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8806ee4e945c6"/>
          <a:srcRect xmlns:a="http://schemas.openxmlformats.org/drawingml/2006/main" l="0" t="561" r="0" b="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01832" cy="9144000"/>
          </a:xfrm>
          <a:prstGeom xmlns:a="http://schemas.openxmlformats.org/drawingml/2006/main" prst="rect">
            <a:avLst/>
          </a:prstGeom>
        </p:spPr>
      </p:pic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4A422C2-5142-48F0-BA3C-375DB77A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754" y="727319"/>
            <a:ext cx="9290080" cy="575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3849" b="1">
                <a:solidFill>
                  <a:srgbClr val="0C17AA"/>
                </a:solidFill>
              </a:rPr>
              <a:t>防御策略二：前瞻性全球布局与平台防御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E270646-FB6A-4F7F-8719-D56EA1B4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754" y="1569620"/>
            <a:ext cx="9290080" cy="68470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0C714397-2636-4762-9226-C1231B4C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754" y="1569620"/>
            <a:ext cx="4522889" cy="3301379"/>
          </a:xfrm>
          <a:prstGeom xmlns:a="http://schemas.openxmlformats.org/drawingml/2006/main" prst="roundRect">
            <a:avLst>
              <a:gd name="adj" fmla="val 259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C6052B4C-98EB-4BBB-9BED-C3D4B1DF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091" y="1592956"/>
            <a:ext cx="4476216" cy="733397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305169-3445-4457-B826-200C2E6A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885" y="1780620"/>
            <a:ext cx="305590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406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C00039F-AE6D-4DB5-B799-5BFF6EAD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394" y="2570656"/>
            <a:ext cx="3987610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887" b="1">
                <a:solidFill>
                  <a:srgbClr val="0C17AA"/>
                </a:solidFill>
              </a:rPr>
              <a:t>第一 - 上架前注册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C6DC38-A99F-42A3-8D44-934DBDB1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394" y="3172056"/>
            <a:ext cx="3987610" cy="143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24" b="1">
                <a:solidFill>
                  <a:srgbClr val="000000"/>
                </a:solidFill>
              </a:rPr>
              <a:t>在第一款产品上架前申请美国商标和外观设计专利｜美国商标注册约8-12个月，外观设计专利12-18个月，需提前布局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CE285CE-9A7C-4005-92EB-4C276BC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946" y="1569620"/>
            <a:ext cx="4522889" cy="3301379"/>
          </a:xfrm>
          <a:prstGeom xmlns:a="http://schemas.openxmlformats.org/drawingml/2006/main" prst="roundRect">
            <a:avLst>
              <a:gd name="adj" fmla="val 259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22DF942B-3A90-4D3D-8643-8EB0576A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4283" y="1592956"/>
            <a:ext cx="4476216" cy="733397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295E87-0DAD-4B01-807C-9B1214A8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5365" y="1780620"/>
            <a:ext cx="305590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406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7D4C4ED-F208-4F8F-8D4D-EE8D6B8F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586" y="2570656"/>
            <a:ext cx="3987610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887" b="1">
                <a:solidFill>
                  <a:srgbClr val="0C17AA"/>
                </a:solidFill>
              </a:rPr>
              <a:t>第二 - 优先权窗口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6489289-DAB9-4497-9399-A25B615A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586" y="3172056"/>
            <a:ext cx="3987610" cy="143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24" b="1">
                <a:solidFill>
                  <a:srgbClr val="000000"/>
                </a:solidFill>
              </a:rPr>
              <a:t>利用中国申请后的6个月（商标/外观设计）或12个月（发明）优先权窗口｜中国申请后6个月内提交美国申请可享受中国申请日优先权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4D0641C-313F-414B-8EC6-E9CDA6A1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754" y="5115302"/>
            <a:ext cx="4522889" cy="3301379"/>
          </a:xfrm>
          <a:prstGeom xmlns:a="http://schemas.openxmlformats.org/drawingml/2006/main" prst="roundRect">
            <a:avLst>
              <a:gd name="adj" fmla="val 259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A879AAB4-D741-4372-9567-B9C1D7F2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091" y="5138638"/>
            <a:ext cx="4476216" cy="733397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5AC55BF8-15BD-45DA-BC6E-FBAE6A3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853" y="5326302"/>
            <a:ext cx="305590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406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F77DCA4-9EEA-4806-BF95-3AD5501E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394" y="6116338"/>
            <a:ext cx="3987610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887" b="1">
                <a:solidFill>
                  <a:srgbClr val="0C17AA"/>
                </a:solidFill>
              </a:rPr>
              <a:t>第三 - 亚马逊品牌备案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2586D8A-0DFB-4489-8852-4A8A072D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394" y="6717738"/>
            <a:ext cx="3987610" cy="143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24" b="1">
                <a:solidFill>
                  <a:srgbClr val="000000"/>
                </a:solidFill>
              </a:rPr>
              <a:t>锁定listing、更快举报假货、使用高级品牌保护工具｜提供商标注册号、公司信息、产品图册，审核通过后享受透明计划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07C2FAE3-F0B8-4566-839B-8AC22A0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946" y="5115302"/>
            <a:ext cx="4522889" cy="3301379"/>
          </a:xfrm>
          <a:prstGeom xmlns:a="http://schemas.openxmlformats.org/drawingml/2006/main" prst="roundRect">
            <a:avLst>
              <a:gd name="adj" fmla="val 259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2C8BF5C3-9EFE-4021-9614-A921463E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4283" y="5138638"/>
            <a:ext cx="4476216" cy="733397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4E8EF9A-2AD2-4AA9-8709-D1F582E8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647" y="5326302"/>
            <a:ext cx="305590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406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FB617D4D-A734-4CB4-9754-A5E57BDB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586" y="6116338"/>
            <a:ext cx="3987610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887" b="1">
                <a:solidFill>
                  <a:srgbClr val="0C17AA"/>
                </a:solidFill>
              </a:rPr>
              <a:t>第四 - 主动监控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24E337A-70E6-4A52-A3A3-4BFD3279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586" y="6717738"/>
            <a:ext cx="3987610" cy="143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24" b="1">
                <a:solidFill>
                  <a:srgbClr val="000000"/>
                </a:solidFill>
              </a:rPr>
              <a:t>实施每日关键词和图片追踪，及早发现仿冒者——监控就是你的雷达系统｜使用品牌备案的"举报违规"工具，定期搜索相似商标和关键词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8d033554e4662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03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174d18d0e4138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2BC1674-6D4E-43DE-B4CA-583DA7CA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21e229b9b4636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E1F8F1D-9E99-4071-A128-EFDF0B44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745372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</a:rPr>
              <a:t>战术应对：如何处理侵权投诉和法律函件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9677DA0-316D-4253-84D6-1E3601D6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620003"/>
            <a:ext cx="14491913" cy="4778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60F5ECE4-94EF-4C62-8A0F-AE831357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620003"/>
            <a:ext cx="3622978" cy="4778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D94E395-029E-412C-9C05-4AB5E1F1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620003"/>
            <a:ext cx="3622978" cy="1008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d1620d44b4b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922" y="2624325"/>
            <a:ext cx="3622978" cy="999442"/>
          </a:xfrm>
          <a:prstGeom xmlns:a="http://schemas.openxmlformats.org/drawingml/2006/main" prst="rect">
            <a:avLst/>
          </a:prstGeom>
        </p:spPr>
      </p:pic>
      <p:pic>
        <p:nvPicPr>
          <p:cNvPr id="6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31fe1435c44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8828" y="2999463"/>
            <a:ext cx="248922" cy="248922"/>
          </a:xfrm>
          <a:prstGeom xmlns:a="http://schemas.openxmlformats.org/drawingml/2006/main" prst="rect">
            <a:avLst/>
          </a:prstGeom>
        </p:spPr>
      </p:pic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31B4C2-208A-47B2-86AB-3A82784B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3930491"/>
            <a:ext cx="3119301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第一步 - 冷静诊断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131087-2A5E-4BD8-B0FA-A4E4A948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4557901"/>
            <a:ext cx="3119301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识别投诉类型，核实投诉人身份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4C50AA-5889-4E1B-8AC5-5A77B6AC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2" y="5556516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0F106F2-5125-4F0F-9941-64FB2D1D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52" y="5480906"/>
            <a:ext cx="2978310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识别投诉类型（商标/专利/版权）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ED04A4C-BD3F-4823-838C-727CB1D2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2" y="645983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D49714E5-322A-4C3D-8268-9087506C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52" y="6384221"/>
            <a:ext cx="2978310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核实投诉人是否为"专利流氓"或真实竞争对手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BCD1AA35-BCAC-4A30-A00A-41B01B43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900" y="2620003"/>
            <a:ext cx="3622978" cy="4778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3DF7519D-E01A-4493-9956-1253C08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900" y="2620003"/>
            <a:ext cx="3622978" cy="1008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d1620d44b4b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4900" y="2624325"/>
            <a:ext cx="3622978" cy="999442"/>
          </a:xfrm>
          <a:prstGeom xmlns:a="http://schemas.openxmlformats.org/drawingml/2006/main" prst="rect">
            <a:avLst/>
          </a:prstGeom>
        </p:spPr>
      </p:pic>
      <p:pic>
        <p:nvPicPr>
          <p:cNvPr id="7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5a6dd6ecb46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6028" y="3013563"/>
            <a:ext cx="220724" cy="220724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214195-06A1-44D9-9B7D-F438BD25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739" y="3930491"/>
            <a:ext cx="3119301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第二步 - 证据核实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EEB1E38-615F-4CE9-9E89-B60365A3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739" y="4557901"/>
            <a:ext cx="3119301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检查证书有效性及保护范围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74C560E-BF3B-48E8-9760-032967E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680" y="5183133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9F091DA-FEFF-49A9-BB76-5715CF10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730" y="5107523"/>
            <a:ext cx="2978310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检查专利有效期（发明20年，外观15年）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4929BF-AD50-454E-8247-7728BFCF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680" y="6086448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BA631FA-5986-4DED-967E-6B28E97D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730" y="6010838"/>
            <a:ext cx="2978310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核实产品是否真的落入其保护范围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6597C1B0-BA08-4E44-8FB5-C9A7B1C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878" y="2620003"/>
            <a:ext cx="3622978" cy="4778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5AA0A8CB-FDAD-49EA-8FA6-0C334651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878" y="2620003"/>
            <a:ext cx="3622978" cy="1008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7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d1620d44b4b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878" y="2624325"/>
            <a:ext cx="3622978" cy="999442"/>
          </a:xfrm>
          <a:prstGeom xmlns:a="http://schemas.openxmlformats.org/drawingml/2006/main" prst="rect">
            <a:avLst/>
          </a:prstGeom>
        </p:spPr>
      </p:pic>
      <p:pic>
        <p:nvPicPr>
          <p:cNvPr id="88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72ab786cc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4806" y="3029363"/>
            <a:ext cx="189122" cy="189122"/>
          </a:xfrm>
          <a:prstGeom xmlns:a="http://schemas.openxmlformats.org/drawingml/2006/main" prst="rect">
            <a:avLst/>
          </a:prstGeom>
        </p:spPr>
      </p:pic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D7567C7E-BF29-4756-B12D-94237B3C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717" y="3930491"/>
            <a:ext cx="3119301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第三步 - 内部审计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2417481-7D5E-4DEB-A479-CBCF0A78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717" y="4557901"/>
            <a:ext cx="3119301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梳理自身知识产权和证据链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910E4D9-C25E-476B-825C-04A95ED6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658" y="5183133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B41A756-B870-4D52-8C9F-45D09851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708" y="5107523"/>
            <a:ext cx="2978310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是否有在先使用证据？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76F2E1AE-EC4D-45A8-803F-971664E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658" y="5713065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0BFA674E-CBC7-4962-B50F-451AE600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708" y="5637455"/>
            <a:ext cx="2978310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是否有自己的注册商标或专利？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521BFB99-DF3D-4484-BD1B-04CB6323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658" y="6616380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CCDA07F-218A-4657-8AA4-89E0FB65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708" y="6540770"/>
            <a:ext cx="2978310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邮件记录是否完整？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E1CFA3F3-B877-401B-AE5D-4D106A03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857" y="2620003"/>
            <a:ext cx="3622978" cy="4778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8903E3E0-B6B9-47B7-8A9E-6A1A405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857" y="2620003"/>
            <a:ext cx="3622978" cy="1008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9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d1620d44b4b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50857" y="2624325"/>
            <a:ext cx="3622978" cy="999442"/>
          </a:xfrm>
          <a:prstGeom xmlns:a="http://schemas.openxmlformats.org/drawingml/2006/main" prst="rect">
            <a:avLst/>
          </a:prstGeom>
        </p:spPr>
      </p:pic>
      <p:pic>
        <p:nvPicPr>
          <p:cNvPr id="100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c164ad8ee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37763" y="2999463"/>
            <a:ext cx="248922" cy="248922"/>
          </a:xfrm>
          <a:prstGeom xmlns:a="http://schemas.openxmlformats.org/drawingml/2006/main" prst="rect">
            <a:avLst/>
          </a:prstGeom>
        </p:spPr>
      </p:pic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1B4E50F6-8CC4-41CD-8E87-83A7497E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695" y="3930491"/>
            <a:ext cx="3119301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第四步 - 正式回应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453E77C2-26F1-48B7-AD24-23AC56D8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695" y="4557901"/>
            <a:ext cx="3119301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把握时间窗口，避免缺席判决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101E052-4F83-4D70-A623-81E62A1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636" y="5556516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BEE77E45-D172-4E9E-9FD5-E9627DC9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686" y="5480906"/>
            <a:ext cx="2978310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平台申诉窗口期通常7-15天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73CC637F-E8BB-490A-828A-010063C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636" y="645983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AFD0CCF-BB11-4904-BDBE-09DC7BB2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686" y="6384221"/>
            <a:ext cx="2978310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法律诉讼回应期30天</a:t>
            </a:r>
          </a:p>
        </p:txBody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f76cd063b4d4e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292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8c50496d643af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46705E3-C440-4E50-B4EE-5C4449A7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dc4c093f64efc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78c5ac73b4b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7838" y="3803599"/>
            <a:ext cx="214809" cy="117168"/>
          </a:xfrm>
          <a:prstGeom xmlns:a="http://schemas.openxmlformats.org/drawingml/2006/main" prst="rect">
            <a:avLst/>
          </a:prstGeom>
        </p:spPr>
      </p:pic>
      <p:pic>
        <p:nvPicPr>
          <p:cNvPr id="5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420b84700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6424" y="5963436"/>
            <a:ext cx="214809" cy="117168"/>
          </a:xfrm>
          <a:prstGeom xmlns:a="http://schemas.openxmlformats.org/drawingml/2006/main" prst="rect">
            <a:avLst/>
          </a:prstGeom>
        </p:spPr>
      </p:pic>
      <p:pic>
        <p:nvPicPr>
          <p:cNvPr id="5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78c5ac73b4b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05010" y="3803599"/>
            <a:ext cx="214809" cy="117168"/>
          </a:xfrm>
          <a:prstGeom xmlns:a="http://schemas.openxmlformats.org/drawingml/2006/main" prst="rect">
            <a:avLst/>
          </a:prstGeom>
        </p:spPr>
      </p:pic>
      <p:pic>
        <p:nvPicPr>
          <p:cNvPr id="6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420b84700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73840" y="5963436"/>
            <a:ext cx="214809" cy="117168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16EE9F2-E7C4-480D-AA56-4CB5E46A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19298"/>
            <a:ext cx="14491913" cy="56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3691" b="1">
                <a:solidFill>
                  <a:srgbClr val="0C17AA"/>
                </a:solidFill>
              </a:rPr>
              <a:t>反击：瓦解欺诈主张，收复市场空间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E787679-89F3-4664-A86F-73C631D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524405"/>
            <a:ext cx="14491913" cy="69002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57DB5F32-A0E4-442C-9B9F-3F7BD915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524405"/>
            <a:ext cx="5585668" cy="3450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e6c6e1746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0762" y="3996566"/>
            <a:ext cx="4747745" cy="1395171"/>
          </a:xfrm>
          <a:prstGeom xmlns:a="http://schemas.openxmlformats.org/drawingml/2006/main" prst="rect">
            <a:avLst/>
          </a:prstGeom>
        </p:spPr>
      </p:pic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347C6B-DCFB-4E24-993D-03D2E187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58" y="1524405"/>
            <a:ext cx="5116995" cy="420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20000"/>
              </a:lnSpc>
              <a:buNone/>
            </a:pPr>
            <a:r>
              <a:rPr sz="2768" b="1">
                <a:solidFill>
                  <a:srgbClr val="0C17AA"/>
                </a:solidFill>
              </a:rPr>
              <a:t>第一阶段 - 挑战有效性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4E2A7D6-F261-4956-A6C2-C18E0BBF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58" y="2096877"/>
            <a:ext cx="5116995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利用公开在先使用或技术泄露的证据，通过美国专利商标局无效抢注者的专利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906E11E8-2F64-4E00-B21D-7580821C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02" y="3004147"/>
            <a:ext cx="234391" cy="234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4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12D0B6C-1D6D-43EE-A4A1-2336861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88" y="2933830"/>
            <a:ext cx="4994965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可申请USPTO多方复审(IPR)，成功率约60%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988AEA9-31BE-462A-AE83-F82C06AF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02" y="3499560"/>
            <a:ext cx="234391" cy="234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4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9395E61-FA9E-4C98-A392-7C86AC3A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88" y="3429243"/>
            <a:ext cx="4994965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无效成功后可反诉对方故意侵权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04331276-1B5B-4A0F-AD4E-089716CA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508" y="4974554"/>
            <a:ext cx="5585911" cy="3450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2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9e9d8e943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9348" y="4539346"/>
            <a:ext cx="4747988" cy="1395242"/>
          </a:xfrm>
          <a:prstGeom xmlns:a="http://schemas.openxmlformats.org/drawingml/2006/main" prst="rect">
            <a:avLst/>
          </a:prstGeom>
        </p:spPr>
      </p:pic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B87C918-E410-4119-8753-02F0841C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845" y="6146481"/>
            <a:ext cx="5117238" cy="420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20000"/>
              </a:lnSpc>
              <a:buNone/>
            </a:pPr>
            <a:r>
              <a:rPr sz="2768" b="1">
                <a:solidFill>
                  <a:srgbClr val="0C17AA"/>
                </a:solidFill>
              </a:rPr>
              <a:t>第二阶段 - 平台反击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74D032CA-AC0C-4E5E-9E94-59978F9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845" y="6718954"/>
            <a:ext cx="5117238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权利确认后，通过测试购买识别假冒者，发起平台投诉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2CB862CF-369F-4C1A-8779-9B80C5C3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288" y="7626223"/>
            <a:ext cx="234391" cy="234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4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ABCF838-566A-491B-8668-4F77D71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875" y="7555906"/>
            <a:ext cx="4995208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测试购买(Test Buy)需保留实物证据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3DD49B3-0344-4601-ACC7-7EBFF1E3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288" y="8121637"/>
            <a:ext cx="234391" cy="234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4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D8A425F-20A0-43BC-A22D-B4E77BEA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875" y="8051319"/>
            <a:ext cx="4995208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向亚马逊提交反通知需附上原创证据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3D471B8C-E4B5-478C-AF96-E2DA30D6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095" y="1524405"/>
            <a:ext cx="5585911" cy="3450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0decae4ec40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7935" y="3996531"/>
            <a:ext cx="4747988" cy="1395242"/>
          </a:xfrm>
          <a:prstGeom xmlns:a="http://schemas.openxmlformats.org/drawingml/2006/main" prst="rect">
            <a:avLst/>
          </a:prstGeom>
        </p:spPr>
      </p:pic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1D9AA27F-0E18-4F7A-AB08-CC3BF16B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909" y="1866673"/>
            <a:ext cx="4922282" cy="420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20000"/>
              </a:lnSpc>
              <a:buNone/>
            </a:pPr>
            <a:r>
              <a:rPr sz="2768" b="1">
                <a:solidFill>
                  <a:srgbClr val="0C17AA"/>
                </a:solidFill>
              </a:rPr>
              <a:t>第三阶段 - 渠道管理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017D50D-1CEF-4675-9AE7-9E89F3C5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909" y="2439145"/>
            <a:ext cx="4922282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通过提供法律赔偿和所有权证明主动稳定分销商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B5F781D-C3B5-467B-B077-6CDC23CE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353" y="3004147"/>
            <a:ext cx="234391" cy="234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4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02CA00D-4409-4B0C-BB74-5131F09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939" y="2933830"/>
            <a:ext cx="480025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主动告知经销商法律应对方案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FB6816F4-FD40-4A90-B1CE-57CDB84F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353" y="3499560"/>
            <a:ext cx="234391" cy="234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4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A72CE24-4BDE-4A05-959D-8AB3907B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939" y="3429243"/>
            <a:ext cx="480025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提供法律担保稳定渠道信心</a:t>
            </a: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60D8569F-6161-4BEC-BBED-05969389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924" y="4974554"/>
            <a:ext cx="5585668" cy="3450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0acb02df74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06764" y="4539382"/>
            <a:ext cx="4747745" cy="1395171"/>
          </a:xfrm>
          <a:prstGeom xmlns:a="http://schemas.openxmlformats.org/drawingml/2006/main" prst="rect">
            <a:avLst/>
          </a:prstGeom>
        </p:spPr>
      </p:pic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5BDD38DE-99F3-47C5-B8C2-348871D6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60" y="6146481"/>
            <a:ext cx="5116995" cy="420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20000"/>
              </a:lnSpc>
              <a:buNone/>
            </a:pPr>
            <a:r>
              <a:rPr sz="2768" b="1">
                <a:solidFill>
                  <a:srgbClr val="0C17AA"/>
                </a:solidFill>
              </a:rPr>
              <a:t>第四阶段 - 品牌壁垒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388D417-E8CD-4251-9DCB-EE284A97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60" y="6718954"/>
            <a:ext cx="5116995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从销售"商品"转型为销售"品牌"——知名品牌创造抢注者无法轻易窃取的忠实客户群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FE02B98D-386E-41D6-9B27-A8F5D125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704" y="7626223"/>
            <a:ext cx="234391" cy="234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4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57D73D55-FD71-4E08-9B10-8CEA467C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290" y="7555906"/>
            <a:ext cx="4994965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建立消费者品牌认知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5B78679-86CB-4E1A-AC74-CA4D1D2F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704" y="8121637"/>
            <a:ext cx="234391" cy="234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4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4715F2A9-56D8-41FB-845C-2D777890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290" y="8051319"/>
            <a:ext cx="4994965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845" b="1">
                <a:solidFill>
                  <a:srgbClr val="000000"/>
                </a:solidFill>
              </a:rPr>
              <a:t>通过独立站和社交媒体建立品牌护城河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3ca72b69b4ce8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163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1cd402bdd44a8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2EF729C-CAD8-4034-B630-AA5B8981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9dad0008f4847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78EF8F0-7C0E-4EFE-9DFC-AADCD4AB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579586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</a:rPr>
              <a:t>法律重武器：比较高风险执法的战略工具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54E2CFC-A887-432F-9F2F-EBD88F07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454217"/>
            <a:ext cx="144919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成功需要将"轻"平台工具的速度与"重"法律工具的系统性优势相结合。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8708359-979E-4A0C-939A-A7615E6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3111041"/>
            <a:ext cx="14491913" cy="37965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01948695-72AD-44ED-85DD-30EFDD63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01" y="3118820"/>
            <a:ext cx="2650871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67643DC-0A6F-488E-8EDB-93170465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80" y="3202199"/>
            <a:ext cx="24841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工具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992940F0-BEA6-4519-B294-36B8FA21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572" y="3118820"/>
            <a:ext cx="2354547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BB4C91C-BBD2-4331-A1B5-B8E81F86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51" y="3202199"/>
            <a:ext cx="2187789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适用场景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393BBF0-A8E9-47FE-A140-C0634B78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118" y="3118820"/>
            <a:ext cx="2815198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611B89-3D66-4A5E-B13F-0B1D3530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498" y="3202199"/>
            <a:ext cx="2648440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速度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1577BDFA-A87D-4AC8-ACB1-6D971D6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316" y="3118820"/>
            <a:ext cx="6656226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851301B-6F82-46CD-A5CD-325A43AA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96" y="3202199"/>
            <a:ext cx="6489468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战略效果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F7754EFC-9A65-43E3-97BE-3BE30B0D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01" y="3658961"/>
            <a:ext cx="2650871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CA97F4F-AAC4-4D15-9949-1A0B3B75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80" y="3742340"/>
            <a:ext cx="24841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DMCA反通知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073ADAC0-BF19-4C5B-AE8C-0507EC8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572" y="3658961"/>
            <a:ext cx="2354547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F98BC85-27E3-4A84-95BD-44760A96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51" y="3742340"/>
            <a:ext cx="2187789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版权/图片纠纷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7F1519D8-B72E-4B04-921D-3E191B6A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118" y="3658961"/>
            <a:ext cx="2815198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76A893D-9791-4F4F-8769-65D05B9E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498" y="3742340"/>
            <a:ext cx="2648440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快速（10-14天）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D8EC403D-9A5D-46BB-99F5-280EC7D7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316" y="3658961"/>
            <a:ext cx="6656226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0F33D1C-52E8-4A1E-895D-267FDB1D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96" y="3742340"/>
            <a:ext cx="6489468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通过证明原创创作恢复listing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5BA5D0D4-0826-48CE-BF59-BFF95F30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01" y="4199103"/>
            <a:ext cx="2650871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1472960C-6A0B-444F-AEB2-4CE3806E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80" y="4282482"/>
            <a:ext cx="24841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临时限制令(TRO)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28BF48BA-3A79-4A80-A5BC-5FA29636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572" y="4199103"/>
            <a:ext cx="2354547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683EDC6-9FD0-48E1-9E2B-2C505A8F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51" y="4282482"/>
            <a:ext cx="2187789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严重假冒</a:t>
            </a: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03D73F4C-AABC-4AE2-84D4-89D65B6D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118" y="4199103"/>
            <a:ext cx="2815198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A86158B-9377-4FDF-973E-36585842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498" y="4282482"/>
            <a:ext cx="2648440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即时（数天）</a:t>
            </a: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2D678910-66E5-4CD1-806F-71EEC7A6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316" y="4199103"/>
            <a:ext cx="6656226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A9C5EE3-6471-40CC-9CA0-24E7466F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96" y="4282482"/>
            <a:ext cx="6489468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立即冻结侵权者账户和资产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575F7FD6-008D-4B31-A67D-DF67F416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01" y="4739245"/>
            <a:ext cx="2650871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BF9FA95-6DB8-4740-B11D-17E3B53D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80" y="4822624"/>
            <a:ext cx="24841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337调查</a:t>
            </a: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34194B3E-200F-4AFC-8B01-C47C26D9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572" y="4739245"/>
            <a:ext cx="2354547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898BF5E1-1C4F-4C66-8C52-EE9E9419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51" y="4822624"/>
            <a:ext cx="2187789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大规模专利纠纷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74E9EE4C-C17D-4160-AF24-9A0D0518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118" y="4739245"/>
            <a:ext cx="2815198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6620B38-0F54-4E51-A576-007846F0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498" y="4822624"/>
            <a:ext cx="2648440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缓慢（12-18个月）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C9F66F63-E4BC-427C-93F9-C5112560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316" y="4739245"/>
            <a:ext cx="6656226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A14A1122-9E62-4FCA-B109-6A3BD787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96" y="4822624"/>
            <a:ext cx="6489468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通过海关在美国边境拦截所有侵权进口商品</a:t>
            </a:r>
          </a:p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68331A2D-6C75-433D-B918-74A42C1A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01" y="5279386"/>
            <a:ext cx="2650871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D13C4E1-4728-4192-9B46-D732982A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80" y="5362765"/>
            <a:ext cx="24841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海关备案</a:t>
            </a:r>
          </a:p>
        </p:txBody>
      </p:sp>
      <p:sp>
        <p:nvSpPr>
          <p:cNvPr id="42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A95690CC-FA0D-4D42-9A69-C8F4C5C2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572" y="5279386"/>
            <a:ext cx="2354547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3256A0B4-1736-428A-B1DD-F2671A56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51" y="5362765"/>
            <a:ext cx="2187789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持续品牌保护</a:t>
            </a:r>
          </a:p>
        </p:txBody>
      </p:sp>
      <p:sp>
        <p:nvSpPr>
          <p:cNvPr id="44" name="AutoShape 44">
            <a:extLst xmlns:a="http://schemas.openxmlformats.org/drawingml/2006/main">
              <a:ext uri="{FF2B5EF4-FFF2-40B4-BE49-F238E27FC236}">
                <a16:creationId xmlns:a16="http://schemas.microsoft.com/office/drawing/2014/main" id="{8C0F499B-C915-43A2-8C8A-EA3B294B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118" y="5279386"/>
            <a:ext cx="2815198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3B020711-67AA-48D4-B7FB-624FFA7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498" y="5362765"/>
            <a:ext cx="2648440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持续</a:t>
            </a:r>
          </a:p>
        </p:txBody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AC468519-0988-4EC9-A2D2-3C80EC5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316" y="5279386"/>
            <a:ext cx="6656226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10A26712-8926-4443-AE64-3A1C2328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96" y="5362765"/>
            <a:ext cx="6489468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使美国海关能够在商品进入市场前扣押假冒商品</a:t>
            </a:r>
          </a:p>
        </p:txBody>
      </p:sp>
      <p:sp>
        <p:nvSpPr>
          <p:cNvPr id="48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4EFC7F89-9964-4AC7-8547-51AEDE3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01" y="5819528"/>
            <a:ext cx="2650871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AEEC10EF-4AE6-4280-9118-A287BBE7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80" y="5902907"/>
            <a:ext cx="24841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亚马逊透明计划</a:t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9FD5067D-E4A0-438A-825E-BC75B3BD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572" y="5819528"/>
            <a:ext cx="2354547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009F3429-98BE-425A-B79F-FD8AA84B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51" y="5902907"/>
            <a:ext cx="2187789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产品防伪</a:t>
            </a:r>
          </a:p>
        </p:txBody>
      </p:sp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650218F7-4B36-41C2-98EC-5F0D8EF6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118" y="5819528"/>
            <a:ext cx="2815198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FA1FD9F-DD5B-4A4F-A4E8-63FC0BEB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498" y="5902907"/>
            <a:ext cx="2648440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持续</a:t>
            </a:r>
          </a:p>
        </p:txBody>
      </p:sp>
      <p:sp>
        <p:nvSpPr>
          <p:cNvPr id="54" name="AutoShape 54">
            <a:extLst xmlns:a="http://schemas.openxmlformats.org/drawingml/2006/main">
              <a:ext uri="{FF2B5EF4-FFF2-40B4-BE49-F238E27FC236}">
                <a16:creationId xmlns:a16="http://schemas.microsoft.com/office/drawing/2014/main" id="{2F8C8712-6961-447F-90FF-9678F47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316" y="5819528"/>
            <a:ext cx="6656226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446E6EE8-FCFE-4CED-A5E0-45945998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96" y="5902907"/>
            <a:ext cx="6489468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从源头杜绝假冒进入物流链</a:t>
            </a:r>
          </a:p>
        </p:txBody>
      </p:sp>
      <p:sp>
        <p:nvSpPr>
          <p:cNvPr id="56" name="AutoShape 56">
            <a:extLst xmlns:a="http://schemas.openxmlformats.org/drawingml/2006/main">
              <a:ext uri="{FF2B5EF4-FFF2-40B4-BE49-F238E27FC236}">
                <a16:creationId xmlns:a16="http://schemas.microsoft.com/office/drawing/2014/main" id="{5B962914-B71F-44BA-BB05-1FEA45AF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01" y="6359670"/>
            <a:ext cx="2650871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13317B00-37EA-4559-9323-FA4B009C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80" y="6443049"/>
            <a:ext cx="24841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诉前禁令</a:t>
            </a:r>
          </a:p>
        </p:txBody>
      </p:sp>
      <p:sp>
        <p:nvSpPr>
          <p:cNvPr id="58" name="AutoShape 58">
            <a:extLst xmlns:a="http://schemas.openxmlformats.org/drawingml/2006/main">
              <a:ext uri="{FF2B5EF4-FFF2-40B4-BE49-F238E27FC236}">
                <a16:creationId xmlns:a16="http://schemas.microsoft.com/office/drawing/2014/main" id="{94CB5705-07B6-4034-8B45-14B1B66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572" y="6359670"/>
            <a:ext cx="2354547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7E043CDE-85D2-4F05-B503-52FF9D77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51" y="6443049"/>
            <a:ext cx="2187789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情况紧急时</a:t>
            </a:r>
          </a:p>
        </p:txBody>
      </p:sp>
      <p:sp>
        <p:nvSpPr>
          <p:cNvPr id="60" name="AutoShape 60">
            <a:extLst xmlns:a="http://schemas.openxmlformats.org/drawingml/2006/main">
              <a:ext uri="{FF2B5EF4-FFF2-40B4-BE49-F238E27FC236}">
                <a16:creationId xmlns:a16="http://schemas.microsoft.com/office/drawing/2014/main" id="{A72C88D7-D393-45DA-B00B-E33AA3A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118" y="6359670"/>
            <a:ext cx="2815198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6483813E-3EC0-4FA8-9C88-F0E154C6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498" y="6443049"/>
            <a:ext cx="2648440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即时</a:t>
            </a:r>
          </a:p>
        </p:txBody>
      </p:sp>
      <p:sp>
        <p:nvSpPr>
          <p:cNvPr id="62" name="AutoShape 62">
            <a:extLst xmlns:a="http://schemas.openxmlformats.org/drawingml/2006/main">
              <a:ext uri="{FF2B5EF4-FFF2-40B4-BE49-F238E27FC236}">
                <a16:creationId xmlns:a16="http://schemas.microsoft.com/office/drawing/2014/main" id="{1BA087AF-2A59-4341-BA79-1F4EE5E6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316" y="6359670"/>
            <a:ext cx="6656226" cy="54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600C49A2-4B8F-469A-BE43-B34B0076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96" y="6443049"/>
            <a:ext cx="6489468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可在起诉前申请临时禁令保护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E085945D-616E-4DB1-A72A-27173205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191031"/>
            <a:ext cx="144919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组合使用：根据侵权规模和紧急程度选择工具组合。轻微侵权用DMCA，规模化假冒用TRO+337，海关备案作为长期防线。</a:t>
            </a:r>
          </a:p>
        </p:txBody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d8abbfbb54715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282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d656c673d4fd4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6994063-F77D-4A5B-A247-8FDDC50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eac799e94427b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313C652-43C3-4225-8E58-53001B29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66457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3889" b="1">
                <a:solidFill>
                  <a:srgbClr val="0C17AA"/>
                </a:solidFill>
              </a:rPr>
              <a:t>独立站+社媒：构建品牌护城河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B341EC9-5D0A-4A64-B186-11E3AD1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629905"/>
            <a:ext cx="14491913" cy="6747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4A2ACC51-072C-4DCC-AAC0-C3726E02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629905"/>
            <a:ext cx="4624742" cy="6747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B761346-3EF1-4710-A6BA-10AD35B0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629905"/>
            <a:ext cx="4624742" cy="6747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b74c462d445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0040" y="1629905"/>
            <a:ext cx="2628507" cy="2628511"/>
          </a:xfrm>
          <a:prstGeom xmlns:a="http://schemas.openxmlformats.org/drawingml/2006/main" prst="roundRect">
            <a:avLst/>
          </a:prstGeom>
        </p:spPr>
      </p:pic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BCA0FB2F-DA9A-44A8-AC02-6E22B84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4567138"/>
            <a:ext cx="4624742" cy="38101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5E2F4B-6FB4-4720-B1C5-6B5C0873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4567138"/>
            <a:ext cx="4624742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19999"/>
              </a:lnSpc>
              <a:buNone/>
            </a:pPr>
            <a:r>
              <a:rPr sz="2917" b="1">
                <a:solidFill>
                  <a:srgbClr val="0C17AA"/>
                </a:solidFill>
              </a:rPr>
              <a:t>独立站建设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B098D37-A99C-4DAA-90C3-91EF1523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5172184"/>
            <a:ext cx="4624742" cy="715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建立品牌官网，拥有域名和服务器控制权，不依赖平台规则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E79D07-E8D1-4B7C-BF66-43640CBA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33" y="6131366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B18A6BF-61D7-48AC-83FB-270FC834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22" y="6057268"/>
            <a:ext cx="448934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拥有独立域名，增强品牌可信度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B31FB32-99E4-4967-A570-61209FF0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33" y="6655707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F7D24FD-94D5-45A1-BADC-7AFD994F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22" y="6581609"/>
            <a:ext cx="448934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自主掌控服务器和数据资产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2703FF-62DE-4BB2-AA01-A765184A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33" y="7180048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9BDC1C7-44D6-4F1F-B679-CE3D6942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22" y="7105950"/>
            <a:ext cx="448934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不受第三方平台规则限制和抽成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374DA37-1676-4B6A-BF3B-FD3AE2E2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33" y="7704389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F270B7C-A6C7-4B58-824E-979F7B00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22" y="7630291"/>
            <a:ext cx="4489343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建议使用Shopify或WordPress等成熟建站工具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19202031-E224-48A9-86BF-505C1923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386" y="1629905"/>
            <a:ext cx="4624742" cy="6747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31106488-0F0D-453F-83F3-8680DB39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386" y="1629905"/>
            <a:ext cx="4624742" cy="6747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ab2cbaf8f43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3504" y="1629905"/>
            <a:ext cx="2628507" cy="2628511"/>
          </a:xfrm>
          <a:prstGeom xmlns:a="http://schemas.openxmlformats.org/drawingml/2006/main" prst="roundRect">
            <a:avLst/>
          </a:prstGeom>
        </p:spPr>
      </p:pic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89B48B8F-66F0-40B3-AB4C-7BEF9EA7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386" y="4567138"/>
            <a:ext cx="4624742" cy="38101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4398EE0-4E08-4D67-8712-5937FB19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386" y="4567138"/>
            <a:ext cx="4624742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19999"/>
              </a:lnSpc>
              <a:buNone/>
            </a:pPr>
            <a:r>
              <a:rPr sz="2917" b="1">
                <a:solidFill>
                  <a:srgbClr val="0C17AA"/>
                </a:solidFill>
              </a:rPr>
              <a:t>社交媒体矩阵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4726AE4-0179-4F47-B851-B1879CFC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386" y="5172184"/>
            <a:ext cx="4624742" cy="715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在Instagram、Facebook、TikTok建立品牌账号，定期发布原创内容积累粉丝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BA8814D-098A-4C28-B323-36C33C59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97" y="6131366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2B5D14C1-EA14-4C65-953F-6C884D9D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786" y="6057268"/>
            <a:ext cx="4489343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Instagram：视觉内容为主，打造品牌形象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E8D25369-A521-4E30-A225-EE953648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97" y="7013532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165D0325-E6E3-4FF4-87AC-CFF1EBE1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786" y="6939434"/>
            <a:ext cx="448934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Facebook：社群运营，建立忠实用户群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23D9F40-7DFA-409A-934B-9FC54B7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97" y="7537873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7A45194-2454-47BF-8EF5-E473EEB8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786" y="7463775"/>
            <a:ext cx="448934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TikTok：短视频传播，扩大品牌曝光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44D5CA78-DCFD-4305-AEFF-F7F0F443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97" y="8062214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35251985-79FE-4A6B-899C-617FDB3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786" y="7988116"/>
            <a:ext cx="4489343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制定内容日历，保持发布频率稳定</a:t>
            </a: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2BC35866-1245-41F5-BCB8-73CB14DE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849" y="1629905"/>
            <a:ext cx="4624986" cy="6747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EA803218-2E1D-4C20-A7A1-B10D021E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849" y="1629905"/>
            <a:ext cx="4624986" cy="6747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0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638b7686145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46967" y="1629905"/>
            <a:ext cx="2628750" cy="2628754"/>
          </a:xfrm>
          <a:prstGeom xmlns:a="http://schemas.openxmlformats.org/drawingml/2006/main" prst="roundRect">
            <a:avLst/>
          </a:prstGeom>
        </p:spPr>
      </p:pic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09199122-60D4-477D-835C-371705D3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849" y="4567381"/>
            <a:ext cx="4624986" cy="380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BB84FC94-2090-4CB2-99BA-C8A05A42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849" y="4567381"/>
            <a:ext cx="4624986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19999"/>
              </a:lnSpc>
              <a:buNone/>
            </a:pPr>
            <a:r>
              <a:rPr sz="2917" b="1">
                <a:solidFill>
                  <a:srgbClr val="0C17AA"/>
                </a:solidFill>
              </a:rPr>
              <a:t>品牌故事化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8023DB42-18DD-4940-A158-87923A37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849" y="5172427"/>
            <a:ext cx="4624986" cy="1073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通过创始人故事、产品理念、用户评价构建品牌差异化，让仿冒者无法复制品牌价值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3845038-13F1-4FBA-9A1C-CCE3BCBA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0" y="6489435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70336434-F153-4283-97E2-55C90340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249" y="6415337"/>
            <a:ext cx="4489586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讲述创始人初心与愿景，建立情感连接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FDB0903E-4684-4A1E-8C07-F084AB97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0" y="7013776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C2198F5F-3B05-43D1-8074-476BAE1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249" y="6939678"/>
            <a:ext cx="4489586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传达产品理念与设计哲学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4DAA5944-6E94-41A6-BFC6-8639E14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0" y="7538116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C2F5E76C-059B-4CFE-B30E-093595F2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249" y="7464019"/>
            <a:ext cx="4489586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收集展示真实用户评价与案例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83424F2D-E1EF-4B61-B492-2781CC36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0" y="8062457"/>
            <a:ext cx="246993" cy="246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4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76DD231F-75FC-42CF-87EA-B1B6079E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249" y="7988359"/>
            <a:ext cx="4489586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944" b="1">
                <a:solidFill>
                  <a:srgbClr val="000000"/>
                </a:solidFill>
              </a:rPr>
              <a:t>构建竞争对手难以复制的品牌文化</a:t>
            </a:r>
          </a:p>
        </p:txBody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dd2ec4f1d4761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484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bf83a17314e6e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2A55D24-CE32-4468-9DB1-9AB27249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b1e49dd9c414c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F0A46C4-45DF-4C84-B716-F4AE5F1E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579650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337调查：中国卖家的美国海关拦截应对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BE1101EA-58CB-4CE2-8491-D810BF3A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3454281"/>
            <a:ext cx="14491913" cy="31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40B96FE1-6A6C-44FE-8B20-69FBAD6A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3454281"/>
            <a:ext cx="4662664" cy="31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DFE7D1B-8473-47E1-9B9C-8ADAF2D5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3706120"/>
            <a:ext cx="4158986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什么是337调查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8047055-BCE4-40CA-8A1D-4D29A4E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4333531"/>
            <a:ext cx="4158986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美国国际贸易委员会(USITC)针对进口贸易中的不公平行为进行调查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AE7E6FE-7D5A-4F27-9A05-142D4E10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2" y="5332146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35CE3B-CA24-46FA-8F29-DAD76C91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52" y="5256536"/>
            <a:ext cx="4017996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主要针对专利和商标侵权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C9B67EB8-3BFD-45DA-8DF5-8E1273F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425" y="3454281"/>
            <a:ext cx="4662664" cy="31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F9903C0-B064-490A-AA69-2517EA5A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264" y="3706120"/>
            <a:ext cx="4158986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应对策略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2CD8E3-6FBC-4078-8936-3578F4D7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05" y="440914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7573F11-3921-4656-BC9E-544DB765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254" y="4333531"/>
            <a:ext cx="4017996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委托美国律师应诉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81DFE24-7CEA-4799-B3EA-463E87E4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05" y="4939073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1102B4-480E-4C24-9129-10C7E88E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254" y="4863463"/>
            <a:ext cx="4017996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挑战申请人资格或专利有效性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4AD269-8512-4EE7-A84C-B66FC73D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05" y="5469005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D54E0788-D6F8-41E5-BDD9-B71AA013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254" y="5393395"/>
            <a:ext cx="4017996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寻求和解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64DFB9C-01D7-483A-BCB1-71817BF2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05" y="5998937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945D29C-FA73-44FB-9A49-D1F655BF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254" y="5923326"/>
            <a:ext cx="4017996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调整供应链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D0B565CF-D165-4CD8-A470-1770E69C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928" y="3454281"/>
            <a:ext cx="4662907" cy="31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C198145-CE74-4F5A-8040-ADD599A2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767" y="3706120"/>
            <a:ext cx="4159230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预防措施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901C773-4EBC-412F-B56F-8763D3B2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07" y="440914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B4C4B4B-E812-4FD2-80FC-E45E8AA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757" y="4333531"/>
            <a:ext cx="4018239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海关备案（Recordation）是第一道防线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3FCB35D-8C42-4ECE-8853-712CB294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07" y="5312456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E03B84C-956E-4F4B-9BC5-7CF731B7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757" y="5236846"/>
            <a:ext cx="401823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提前布局专利可避免成为调查目标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e5b1912e84f39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809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aa0025b7b4149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3EF3CE8-C19A-40E4-A622-CE3C57A2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4f37450ae4f4b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DE49F48-F3AE-4408-B425-B010A167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602" y="3153338"/>
            <a:ext cx="25038" cy="756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D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839C85E-5447-4A70-A128-559854BB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341" y="3153338"/>
            <a:ext cx="25038" cy="756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D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787E794-46AB-42BC-B7E0-D6B5747A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080" y="3153338"/>
            <a:ext cx="25038" cy="756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D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B1DA28A-6F6B-4933-AD11-4146E10A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818" y="3153338"/>
            <a:ext cx="25038" cy="756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D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66A2328-1C02-46C6-BE88-DB8CCE41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995753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</a:rPr>
              <a:t>专利无效程序：USPTO多方复审(IPR)实战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9C2EC7C3-05B7-4DF8-8C1D-248058F0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870384"/>
            <a:ext cx="14491913" cy="4277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C835A99D-8A1B-4212-BFC2-2BD4622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3153824"/>
            <a:ext cx="14491913" cy="25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D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68AAC3F0-39D9-4510-B335-A3F671D4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870384"/>
            <a:ext cx="3386697" cy="4277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774B3459-D02E-49C8-AC83-A296EEBD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830" y="2869897"/>
            <a:ext cx="566880" cy="566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E96056-3BB2-41DD-ADB3-39CC91C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255" y="2966647"/>
            <a:ext cx="31504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8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5330930A-247B-43B2-8933-47A6D753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4090929"/>
            <a:ext cx="2883019" cy="3057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D8491665-2B97-413A-A769-AA8B66C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4090929"/>
            <a:ext cx="2883019" cy="902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第一阶段：提交请愿书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66497B8-337E-4143-8220-5CC1AC80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2" y="524512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A3D4CC9-89F6-4519-9CCF-D2A967BD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52" y="5169510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列明无效理由和证据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246B169-C025-4A40-AEA9-EF91A8E9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2" y="5775052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987108C-4AA7-46D4-93E8-7F072FA5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52" y="5699442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提供专利文献引用支持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287F2E3-B9F7-489D-A1AD-0A998C17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2" y="6304984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3D3835-3C07-441C-9608-26C115A3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52" y="6229374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说明现有技术对比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083CEA9-F781-40E1-9B18-ED2F3308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2" y="6834916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FDC3760-EA83-4653-88A3-14C2EB45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52" y="6759306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明确法律依据条款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D8169CAB-1C37-4207-BD0D-6CB93E61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661" y="2870384"/>
            <a:ext cx="3386697" cy="4277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2EFCCF1C-B8EA-4E37-A833-95AA090A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569" y="2869897"/>
            <a:ext cx="566880" cy="566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1C2B635-FEFD-43C2-9090-C3FE4EBE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310" y="2966647"/>
            <a:ext cx="31504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8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88C23713-8DAB-46EF-899A-7158F0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499" y="4090929"/>
            <a:ext cx="2883019" cy="3057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B7688DBB-285D-43E3-940D-6F39AA42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499" y="4090929"/>
            <a:ext cx="2883019" cy="902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第二阶段：USPTO受理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7E29677E-506D-4E3C-AF70-8F25D963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440" y="524512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2B6C95BB-484D-4B02-862A-B6732607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490" y="5169510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审查请愿书受理条件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BD95E50-21E6-46EB-9520-4432410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440" y="5775052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2EB86BD-15B5-4F0B-B787-1DDDC6D9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490" y="5699442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评估时间约1个月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D7D02A8D-D2AA-492E-9075-F21479FC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440" y="6304984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C51D4D6-7E9E-4E63-B434-136C52C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490" y="6229374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确定是否立案通知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BB6BCE9-746A-4EFC-A7BF-AAAE3BCC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440" y="6834916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3DB6BDA-148B-4385-9F9E-CD68B8F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490" y="6759306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初步审查材料完整性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284C13BC-B32E-4822-A8C3-383C44CD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399" y="2870384"/>
            <a:ext cx="3386697" cy="4277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ED05B3CA-1577-4222-B6A9-02556418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308" y="2869897"/>
            <a:ext cx="566880" cy="566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9574EDD-C304-4134-98E4-0068AFD0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485" y="2966647"/>
            <a:ext cx="31504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8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41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B189F571-AA2B-43FE-855E-E3BD29CB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238" y="4090929"/>
            <a:ext cx="2883019" cy="3057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8A10EE6-F7F2-48FF-ABD1-668315DB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238" y="4090929"/>
            <a:ext cx="2883019" cy="902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第三阶段：立案审查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280DC360-83AD-45F5-A4A9-10E1A60F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79" y="524512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27B00B73-7913-44AE-ACDF-357361E2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229" y="5169510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双方提交书面意见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AC7B9DC-3397-4553-9B3F-4486301C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79" y="5775052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11DF15A3-F0D6-4FC6-A1EF-ACCC2CB5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229" y="5699442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进行口头审理程序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884E96B-21FF-4BF4-A672-DADEB240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79" y="6304984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1D930667-FAD6-41CE-B2A9-8D480F75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229" y="6229374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交换证据材料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98156BCA-1BF2-4BEF-9A10-F1532A9D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79" y="6834916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D319FDFF-7B73-451D-9244-EAC31435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229" y="6759306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答辩与反驳程序</a:t>
            </a:r>
          </a:p>
        </p:txBody>
      </p:sp>
      <p:sp>
        <p:nvSpPr>
          <p:cNvPr id="51" name="AutoShape 51">
            <a:extLst xmlns:a="http://schemas.openxmlformats.org/drawingml/2006/main">
              <a:ext uri="{FF2B5EF4-FFF2-40B4-BE49-F238E27FC236}">
                <a16:creationId xmlns:a16="http://schemas.microsoft.com/office/drawing/2014/main" id="{B3C20F49-8D72-498F-B886-EAFF24F9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138" y="2870384"/>
            <a:ext cx="3386697" cy="4277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71C99C86-E40A-45D1-99A8-AB81A287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7046" y="2869897"/>
            <a:ext cx="566880" cy="566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3B69B5D-DECB-4BF3-8B6A-9AB2025A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1583" y="2966647"/>
            <a:ext cx="31504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8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54" name="AutoShape 54">
            <a:extLst xmlns:a="http://schemas.openxmlformats.org/drawingml/2006/main">
              <a:ext uri="{FF2B5EF4-FFF2-40B4-BE49-F238E27FC236}">
                <a16:creationId xmlns:a16="http://schemas.microsoft.com/office/drawing/2014/main" id="{E16CE566-9209-472C-AC2B-566B4C50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977" y="4090929"/>
            <a:ext cx="2883019" cy="3057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A2569336-CC9D-462F-89E8-312E161D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977" y="4090929"/>
            <a:ext cx="2883019" cy="902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第四阶段：最终裁决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6285D456-D120-4FD4-863F-9F1ADF09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918" y="524512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18104005-E96B-480E-A79B-C02D0B42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968" y="5169510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通常12个月内出结果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B4E1085E-BE36-4681-9C9E-9066BEE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918" y="5775052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3FD507A4-C33E-47F3-A4F4-F7B788AC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968" y="5699442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成功率约60%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666D3D95-7FCD-4FA0-966F-C67B5005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918" y="6304984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2CD1D58B-133C-43DB-BB64-07421D7A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968" y="6229374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发布最终书面决定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91194DA5-7FBF-49D0-A9E0-F4FDBC22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918" y="6834916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798DA723-88D8-40A8-9655-17F540E1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968" y="6759306"/>
            <a:ext cx="2742029" cy="388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可上诉至PTAB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3e9b968334eec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176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7dfd451604f23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AFE795D-1376-45EC-B926-1BB39E2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3814bde9a4968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7789C00-50F3-4F13-BAB9-BEA69B72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69374"/>
            <a:ext cx="14491913" cy="544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611" b="1">
                <a:solidFill>
                  <a:srgbClr val="0C17AA"/>
                </a:solidFill>
              </a:rPr>
              <a:t>亚马逊品牌备案2.0：深度操作指南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7FD19B1-62F6-494B-8CAE-B7E5D57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548471"/>
            <a:ext cx="14491913" cy="6825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854C3DC-5DD8-463A-A761-2FA636AE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548471"/>
            <a:ext cx="3407846" cy="3367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BE80F39-B78F-453F-AAE9-626EEA8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548471"/>
            <a:ext cx="515832" cy="515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DB750B5-577C-47C0-97CF-58BD7E21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71" y="1635253"/>
            <a:ext cx="286688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257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024929-705B-4D56-A688-AFDEE1FC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86" y="1627231"/>
            <a:ext cx="2662782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708" b="1">
                <a:solidFill>
                  <a:srgbClr val="0C17AA"/>
                </a:solidFill>
              </a:rPr>
              <a:t>第一步 - 在USPTO注册商标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EE7401-3F1C-4C06-BD38-B790CB75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42" y="2651130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3B8829-8914-4B16-8D34-ACB33965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68" y="2582324"/>
            <a:ext cx="2546100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需已注册或待审状态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AD6FCBB-41CB-4325-886D-04A74076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42" y="3125637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669A96-BAF3-4B9F-963A-4AD80567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68" y="3056832"/>
            <a:ext cx="2546100" cy="700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确保商标分类与销售品类匹配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7DDB-C816-4178-8A09-F4F9B071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42" y="3942413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161116A-C29B-41BE-915E-CD2102B3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68" y="3873608"/>
            <a:ext cx="2546100" cy="700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准备商标注册号和证书文件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EC93161-66AE-47CB-95A9-5FDA098F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368" y="1548471"/>
            <a:ext cx="3408089" cy="3367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4FFFC110-B2AE-47AA-B12E-7BFC9274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368" y="1548471"/>
            <a:ext cx="515832" cy="515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B76A1FB-BD76-427F-A020-7C7CDD4C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607" y="1635253"/>
            <a:ext cx="286688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257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0B42D21-C72D-4258-BC3B-F503587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432" y="1627231"/>
            <a:ext cx="2663025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708" b="1">
                <a:solidFill>
                  <a:srgbClr val="0C17AA"/>
                </a:solidFill>
              </a:rPr>
              <a:t>第二步 - 准备资产证明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DDA7D9B-B3FE-4B8A-8ECC-A0DE4DA1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088" y="2651130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B6786E2-683A-4A0D-9721-EFBE055B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114" y="2582324"/>
            <a:ext cx="2546343" cy="700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品牌官网（需包含完整品牌故事）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CE6373B-0499-4D00-B5D8-DA032FA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088" y="3467905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8920F93-C9FC-4DD9-8979-8F818719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114" y="3399100"/>
            <a:ext cx="2546343" cy="700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产品图片（需清晰展示品牌标识）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4FA64A2-6128-4D75-9424-BEC4C45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088" y="4284681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F577300-7ED2-4DA0-85D7-3CA79CC4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114" y="4215876"/>
            <a:ext cx="2546343" cy="700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品牌故事、产品定位、包装设计等素材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218D4CA4-0643-4E61-95BF-1C9F8B2B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057" y="1548471"/>
            <a:ext cx="3408089" cy="3367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28BDBF2-B0D8-435E-B625-FD72FB47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057" y="1548471"/>
            <a:ext cx="515832" cy="515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281D2EF1-6490-4910-A310-EE10C255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462" y="1635253"/>
            <a:ext cx="286688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257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EE5D1D-556E-4FE1-88A2-D3C46921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121" y="1627231"/>
            <a:ext cx="2663025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708" b="1">
                <a:solidFill>
                  <a:srgbClr val="0C17AA"/>
                </a:solidFill>
              </a:rPr>
              <a:t>第三步 - 提交品牌备案申请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979C507-5D2A-4258-9A47-21F75B70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777" y="2651130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38EC11B-F2D9-47CB-B410-A322836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803" y="2582324"/>
            <a:ext cx="2546343" cy="700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登录亚马逊品牌备案门户（Brand Registry）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645689A2-66D2-42CA-B480-D5EAA227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777" y="3467905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A9A32C4-7FA8-4017-A03E-679A7D97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803" y="3399100"/>
            <a:ext cx="2546343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上传商标注册证书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D2E70986-30CF-47FC-904A-BEADEFFF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777" y="3942413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C4CAC68-45C0-47AC-9EAD-098445C9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803" y="3873608"/>
            <a:ext cx="2546343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填写品牌信息和产品列表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DD4B1F8-C014-4933-9567-EE8A8586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777" y="4416921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875CD0F4-F8F8-44DA-B339-F5AC31D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803" y="4348116"/>
            <a:ext cx="2546343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提交前仔细核对所有资料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CD5B890B-37FC-499C-B834-F21A6717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746" y="1548471"/>
            <a:ext cx="3408089" cy="3367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BEDE07DC-6268-450C-95B3-7581AE9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746" y="1548471"/>
            <a:ext cx="515832" cy="515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72F5D97E-60F1-43DA-9287-CEC6619B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482" y="1635253"/>
            <a:ext cx="286688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257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F449D19F-B94D-45FE-A5A3-FF3224B7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810" y="1627231"/>
            <a:ext cx="2663025" cy="808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708" b="1">
                <a:solidFill>
                  <a:srgbClr val="0C17AA"/>
                </a:solidFill>
              </a:rPr>
              <a:t>第四步 - 等待亚马逊审核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4F1182CA-FE5E-41D2-876E-5199A45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3466" y="2651130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365ECCB7-EE72-442F-B911-83CB30E7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492" y="2582324"/>
            <a:ext cx="2546343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审核周期通常为1-2周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A66AB330-434E-49C4-9D93-40728C22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3466" y="3125637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EFA19FEC-7123-4DAE-9DD5-B13D7093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492" y="3056832"/>
            <a:ext cx="2546343" cy="700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保持邮箱和后台联系方式畅通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572F1539-213E-4012-9D70-E8907772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3466" y="3942413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126398A3-0B34-4F3A-AA88-049BA89C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492" y="3873608"/>
            <a:ext cx="2546343" cy="700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如有问题亚马逊会通过邮件联系</a:t>
            </a:r>
          </a:p>
        </p:txBody>
      </p:sp>
      <p:sp>
        <p:nvSpPr>
          <p:cNvPr id="49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5A77E1F1-2AA2-4D85-962E-0AC39A4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5489171"/>
            <a:ext cx="14491913" cy="28852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6E56B0CC-E375-48CC-8147-4D094C25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5489171"/>
            <a:ext cx="515832" cy="515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4F736285-F6D4-4A52-B7F6-FFF7839A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3" y="5575954"/>
            <a:ext cx="286688" cy="3422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257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AE9852C8-5AF7-42E2-9A29-333A170A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86" y="5567932"/>
            <a:ext cx="13746849" cy="404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708" b="1">
                <a:solidFill>
                  <a:srgbClr val="0C17AA"/>
                </a:solidFill>
              </a:rPr>
              <a:t>第五步 - 解锁品牌权益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54C5E0B5-798A-4456-833E-E8F27B8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42" y="6187331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DF817883-152B-4734-B919-208D2001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68" y="6118526"/>
            <a:ext cx="13630167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举报工具（Report a Violation）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57786C76-0AF5-4D7A-AC98-8E9DD871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42" y="6661839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188CD98-F3C7-4BF6-B6E2-1BA19207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68" y="6593034"/>
            <a:ext cx="13630167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透明计划（Transparency）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65F2DABA-5472-43A4-9780-A85F042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42" y="7136347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8627469A-D72F-4948-88AF-306BFA99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68" y="7067542"/>
            <a:ext cx="13630167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A+内容页面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F1F2EC98-A4A2-4A34-B68D-7EAE6844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42" y="7610855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840DEE0F-77A1-4312-B185-A948CBAE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68" y="7542050"/>
            <a:ext cx="13630167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品牌旗舰店（Brand Store）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EDEF0FF2-0873-47C6-822A-51BABDA1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42" y="8085363"/>
            <a:ext cx="229350" cy="229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5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40910116-A7A0-44E1-B15E-A470608B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68" y="8016558"/>
            <a:ext cx="13630167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805" b="1">
                <a:solidFill>
                  <a:srgbClr val="000000"/>
                </a:solidFill>
              </a:rPr>
              <a:t>更多流量入口和品牌保护</a:t>
            </a:r>
          </a:p>
        </p:txBody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9cd4ee50f4015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995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986b1ef174ab6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6800185-298B-49E3-987A-C2038956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a656418444b79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2FFBED5-F4F2-4F1F-B573-BBC56E5D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613132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</a:rPr>
              <a:t>商业秘密保护：技术型卖家的必修课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458DBC5-AB18-409D-9069-1F05154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487763"/>
            <a:ext cx="14491913" cy="5043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AC9FAA2-6746-4D5E-B793-DCAE3349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487763"/>
            <a:ext cx="3434099" cy="5043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30AAE22-7787-4126-9647-53303B4E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97" y="2762939"/>
            <a:ext cx="2883749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法律框架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6466924-7A5E-4142-85E7-F9D42FE1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97" y="3390349"/>
            <a:ext cx="2883749" cy="112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美国《保护商业秘密法》(DTSA)提供联邦层面保护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4A2615A-5D54-4D22-8600-27C3D26E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38" y="4762348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11112E8-8C3E-4A36-AF84-DBD2E2A7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088" y="4686738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联邦层面统一的商业秘密保护标准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65D82AB-5C30-49D9-A270-3D71F3F4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38" y="5665663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EE3CEFF-959D-4E8F-AA2D-48DB9E22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088" y="5590053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可提起联邦诉讼，跨州执法便利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4A87FA7-61AC-4C5E-93F3-FBF8D1D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38" y="6568978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4D2B750-3512-4301-936F-9016D96F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088" y="6493368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故意盗窃可主张三倍赔偿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46B5EB84-F42D-4BB0-9313-750A2BED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860" y="2487763"/>
            <a:ext cx="3434099" cy="5043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38BFC2E-1FD8-4DA8-AC9D-75A52C91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035" y="2762939"/>
            <a:ext cx="2883749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保护前提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42D76A8-A050-4081-9E6C-261A1306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035" y="3390349"/>
            <a:ext cx="2883749" cy="112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必须证明采取了合理保密措施：NDA、访问权限、加密存储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7A0DF45-3321-4333-B4B4-D88F2047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976" y="4762348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27119C5-5A5B-4AF0-9144-CABCB6FE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026" y="4686738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签署保密协议(NDA)明确界定保密范围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278BF5E-4E40-4EEB-A323-648D8594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976" y="5665663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88486D2C-C61E-4115-8780-7CA68E49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026" y="5590053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实施分级访问权限，控制信息知悉范围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1EEC59F-1B3F-4D8B-B84C-F0134DC4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976" y="6568978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E8D3514-5E0A-4374-AD5E-2E40FA34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026" y="6493368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采用加密存储与传输技术保护核心数据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1D539FA5-D283-40D7-9C4A-8D408D23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798" y="2487763"/>
            <a:ext cx="3434099" cy="5043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18A679F-5A71-40C9-9D09-C9F4B997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973" y="2762939"/>
            <a:ext cx="2883749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高风险行为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9269D90-4C0E-46FE-8CCF-4927BDE5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973" y="3390349"/>
            <a:ext cx="2883749" cy="112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向"伪客户"随意提供技术资料、未签保密协议的样品寄送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CC9633A-545B-42C5-90EF-378029F8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1914" y="4762348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B6325927-7733-4BA9-BC9E-49EEC23C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964" y="4686738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核实客户真实身份与业务需求再提供资料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48A7FBC-1207-4EA8-BC5B-97A3C351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1914" y="5665663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0DC47C0-A604-4C33-AD13-D2605E7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964" y="5590053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样品寄送前必须签署保密协议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6D577FF-B69F-49F2-9A2A-739A48D4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1914" y="6568978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08DF03F-A281-4D0B-A457-3093EA20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964" y="6493368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避免在未核保情况下暴露核心技术细节</a:t>
            </a: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2CF21523-A7F6-4599-AF89-DF78A40F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736" y="2487763"/>
            <a:ext cx="3434099" cy="5043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18A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7C709A41-37C4-4D5F-8F61-EC6081D1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4911" y="2762939"/>
            <a:ext cx="2883749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证据要求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24EA762-EF7F-492C-A59A-9E521583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4911" y="3390349"/>
            <a:ext cx="2883749" cy="112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保留技术交底记录、邮件往来、样品寄送单等完整证据链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A629EC8-397E-4ADE-A1C2-AEB758A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852" y="4762348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061CEC5-FB5B-48E2-A5C4-AD1D218E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5902" y="4686738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完整记录技术文档的交接时间与对象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CBDEC32-0735-4AF0-B7C2-FE0A8634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852" y="5665663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D8440D1A-D0A2-4EFD-9983-35012447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5902" y="5590053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存档所有沟通邮件作为知情证据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3D923F2-1BB9-4578-B6F8-50DD2D5D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852" y="6568978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EB761D2B-8A8E-4B9D-B051-DA8E913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5902" y="6493368"/>
            <a:ext cx="2742758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保存物流单据与签收确认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42e2310c8409a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713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7281725ad46f5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A553C43-693F-4061-9F28-22BF9728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852c403044f90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6702B8E-CA9C-40E2-A004-13AAD522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481200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</a:rPr>
              <a:t>版权保护：跨境卖家的隐形战场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60C348C-7891-47BA-90C3-732FF88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3355830"/>
            <a:ext cx="14491913" cy="33067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3CF54A9-B5B4-47DD-BF0F-2AF46289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3355830"/>
            <a:ext cx="3386697" cy="33067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A99BB0F-8441-4509-90AF-0C0AB69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3355830"/>
            <a:ext cx="566880" cy="566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3E61322-D406-4B14-994E-78ACB366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47" y="3452580"/>
            <a:ext cx="31504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8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36AE4C0-503A-4453-8642-3A876FB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641" y="3442370"/>
            <a:ext cx="2567978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01 自动保护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E244F8-FD61-4135-A0DA-4065001C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641" y="4069780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作品创作完成即拥有版权，无需登记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BB289E1-C75D-4256-91AD-72284EE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641" y="4992785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但登记是提起诉讼的前提条件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104C96-43F4-4D3A-A23E-27ABAAED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641" y="5915791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未登记作品仍受保护，诉讼难度更高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1DAD951B-CC7F-42E2-BB0B-56B6C3E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661" y="3355830"/>
            <a:ext cx="3386697" cy="33067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E995A3F7-FA4C-4053-A8DB-4F0D7B5E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661" y="3355830"/>
            <a:ext cx="566880" cy="566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65BB1EE-820B-4D39-963E-DE0BB5C0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401" y="3452580"/>
            <a:ext cx="31504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8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505F82A-AC48-456F-94A8-3079FA4B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380" y="3442370"/>
            <a:ext cx="2567978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02 登记价值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8B3DF15-7C54-4061-9DFF-C4A599B4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380" y="4069780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登记证书是诉讼利器，可主张法定赔偿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9C6C1C2-0BD3-42DF-BB5B-7171ADEE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380" y="4992785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最高可达 15 万美元 / 件（故意侵权）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94CD40-8380-4229-A8C2-7B1875A9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380" y="5915791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可同时主张律师费由被告承担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1BF808F1-0F18-4E34-BC27-AE25AF81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399" y="3355830"/>
            <a:ext cx="3386697" cy="33067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186E0FD9-8FD7-4BDE-AD01-A4804992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399" y="3355830"/>
            <a:ext cx="566880" cy="566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23F8D20-292F-43B1-A736-315315DE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577" y="3452580"/>
            <a:ext cx="31504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8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11E4786-3D95-4235-8EB3-A46B1A25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118" y="3442370"/>
            <a:ext cx="2567978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03 高风险场景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1BE31D1-65BC-4979-87A7-56B8F989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118" y="4069780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产品图片、产品视频：被竞争对手盗用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C073B52-995C-4DC0-99A1-3D4EA984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118" y="4992785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Listing 文案：被搬运导致流量流失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4E935BA-0EB7-4747-AC23-0A09B02F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118" y="5915791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包装设计：公版仿冒造成品牌混淆</a:t>
            </a: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9D6FD5BA-F7DB-47A5-9D7A-86AFCCAC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138" y="3355830"/>
            <a:ext cx="3386697" cy="33067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71916F5-2C6E-4972-98F1-C25811A5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138" y="3355830"/>
            <a:ext cx="566880" cy="566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7BB77F5-725A-48E2-A1DF-AC633DF6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675" y="3452580"/>
            <a:ext cx="31504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248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0C350401-1028-4390-AFAC-B8C3EC13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5857" y="3442370"/>
            <a:ext cx="2567978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04 自保措施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BEF8542D-FF5E-4FF7-AB7E-226DDA9C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5857" y="4069780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在美国版权局提前登记核心图片和文案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EE9269F2-7381-4E74-91C1-EAF4C22F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5857" y="4992785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保留创作源文件（PSD/AI）及时间戳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ED35147-550F-4101-BE6C-065BDFC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5857" y="5915791"/>
            <a:ext cx="2567978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建立完整的创作证据链，备诉之用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cb5b6a0a64ecb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429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a1208a717451c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3C8E7DC-D791-4597-9387-4CE9E99E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1252d12c8446a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067325D-5BC9-476A-819E-8C1F03B2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252876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</a:rPr>
              <a:t>美国专利申请：发明专利 vs 外观设计专利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8C2E306-428F-4375-9A43-13FEB61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127507"/>
            <a:ext cx="14491913" cy="5106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6A95709E-E34B-47BE-8444-0EF2A2C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127507"/>
            <a:ext cx="3434099" cy="2800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AFA71A2-98D7-4537-8345-32CCB8A9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2379346"/>
            <a:ext cx="2930422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保护范围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2AB3A3D-6138-4E1B-B454-EF031FC6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3006756"/>
            <a:ext cx="2930422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发明专利：保护功能性发明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E0CC3B-5AA8-4E6C-90DF-1482C796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3929761"/>
            <a:ext cx="2930422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外观设计专利：保护产品外观造型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CE33C53-C680-405F-84AD-AA0608EA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860" y="2127507"/>
            <a:ext cx="3434099" cy="2800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DD8A227-D11B-4FAD-97B8-5F7BB443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99" y="2379346"/>
            <a:ext cx="2930422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保护期限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9515B8-03D5-4660-AB05-F414D37D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99" y="3006756"/>
            <a:ext cx="293042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发明专利：</a:t>
            </a: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20年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7DDFC9F-13F8-4EEA-AB09-AED616B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99" y="3556378"/>
            <a:ext cx="293042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外观设计专利：</a:t>
            </a: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15年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54562BB9-ED69-427B-A7B0-7889E06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798" y="2127507"/>
            <a:ext cx="3434099" cy="2800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945FDBFD-CC4C-4B0D-94D6-971C0C3C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637" y="2379346"/>
            <a:ext cx="2930422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审查方式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2F0AA6F-CE86-48D1-AAFC-9598F663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637" y="3006756"/>
            <a:ext cx="2930422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发明专利：需通过USPTO实质审查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DCDC19D-58A3-42A8-86DF-36BE69A7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637" y="3929761"/>
            <a:ext cx="2930422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外观设计专利：审查相对简单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B280B4F2-E631-4B4E-A77A-FC265D71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736" y="2127507"/>
            <a:ext cx="3434099" cy="2800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022F529-B981-4218-8229-B081BD8F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575" y="2379346"/>
            <a:ext cx="2930422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申请周期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9D106CB-C5DD-4FD6-AA2E-6B13CC3F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575" y="3006756"/>
            <a:ext cx="2930422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发明专利：平均2-3年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86F2344-607A-4F4F-A4F9-9433EDDD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575" y="3556378"/>
            <a:ext cx="2930422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外观设计专利：平均12-18个月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7F10DB9A-076F-4ECC-80A3-A3F15412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5180206"/>
            <a:ext cx="14491913" cy="2054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C37F902-9FA4-4E47-8D5C-3596D3A9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5432046"/>
            <a:ext cx="13988235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申请费用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B8B7ED1-CAA6-49EA-A5A8-19D8CEFE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6059456"/>
            <a:ext cx="13988235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发明专利：费用较高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C33A196-A8E1-4792-8E88-49C8480C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6609078"/>
            <a:ext cx="13988235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外观设计专利：费用较低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34D99E8-32EC-40C7-A9C8-C2F4BF9C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517741"/>
            <a:ext cx="144919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  <a:highlight>
                  <a:srgbClr val="FF6B6B">
                    <a:alpha val="100000"/>
                  </a:srgbClr>
                </a:highlight>
              </a:rPr>
              <a:t>⚠️ 关键提醒：美国没有实用新型专利，这是中国卖家最常踩的坑！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71e261cbc430e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391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9c7d2515647e5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3947F93-D24F-4B8D-BB58-38C040E7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c0a7eab2c42a2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D37E26E-D436-4EA7-B54D-7B499AD5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33154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3969" b="1">
                <a:solidFill>
                  <a:srgbClr val="0C17AA"/>
                </a:solidFill>
              </a:rPr>
              <a:t>美国商标注册：实战操作指南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E4DD920-C538-42A2-BB60-4E9221C0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607784"/>
            <a:ext cx="14491913" cy="6803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D0A5721-B88D-4AE1-869C-C184BEE9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607784"/>
            <a:ext cx="4662664" cy="6803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7859D74-5D6B-4445-831E-B7AD2EF2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1859624"/>
            <a:ext cx="4158986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注册途径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1E96897-A5CA-4757-B6D2-964394D3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61" y="2487034"/>
            <a:ext cx="4158986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马德里国际注册（通过WIPO）或直接向USPTO申请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78C7F7-5599-4984-8F0B-2C2D8D6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2" y="3485649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76F258A-5DB2-4F89-9FE6-68A1E8B7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52" y="3410039"/>
            <a:ext cx="4017996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马德里体系：一次申请覆盖多个国家，费用较低，适合全球化布局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7DB64C-7888-427B-ABD1-439315C6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2" y="4388964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9D492C5-C577-45B9-A1EE-FC95E601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52" y="4313354"/>
            <a:ext cx="4017996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直接申请：向USPTO递交，费用约250-350美元/类，流程更直接可控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5177E6D-E1A4-4BDB-9908-0AF1C835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425" y="1607784"/>
            <a:ext cx="4662664" cy="6803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FE37990-719E-42CE-BB67-0417687B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264" y="1859624"/>
            <a:ext cx="4158986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注册流程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3BD7E09-280E-4AB1-907C-CB7FBC4B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264" y="2487034"/>
            <a:ext cx="4158986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搜索查重→提交申请→USPTO审查→公示期→注册发证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777BCB6-ACD4-4A8A-84BE-001AF3CD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05" y="3485649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41D5AA7-FE7F-4F53-A882-88841115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254" y="3410039"/>
            <a:ext cx="4017996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搜索查重：使用USPTO官网TESS系统进行近似商标检索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E628C8F-DAC7-4235-B2F8-EADE3CBA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05" y="4388964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4A40827-7891-4644-AAAC-DEBADAD9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254" y="4313354"/>
            <a:ext cx="4017996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提交申请：准备商品/服务分类及使用证据或意图使用声明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185BA95-9CF2-41E9-9534-D8C99E38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05" y="5292280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0078103-2E2B-4407-899A-E03482BB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254" y="5216670"/>
            <a:ext cx="4017996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USPTO审查：形式审查+实质审查，约3-4个月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C334718-A9E3-4DA1-A1E6-7F0351B7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05" y="6195595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A0D5003-9064-4A85-89CC-F87B66FB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254" y="6119985"/>
            <a:ext cx="4017996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公示期：审查通过后进入30天异议公示期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9DF8F87-511E-4914-90DE-8DF23983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05" y="7098910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7F2B83B-8F1D-4148-9D36-1F8B442B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254" y="7023300"/>
            <a:ext cx="4017996" cy="11357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注册发证：若无异议，缴纳注册费后下发注册证书，全流程约8-12个月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F595338C-8FBE-459D-AC97-579D8308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928" y="1607784"/>
            <a:ext cx="4662907" cy="6803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BDB3822-1A3F-4F42-BF9E-6398AA23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767" y="1859624"/>
            <a:ext cx="4159230" cy="45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976" b="1">
                <a:solidFill>
                  <a:srgbClr val="0C17AA"/>
                </a:solidFill>
              </a:rPr>
              <a:t>关键要点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B94C13B-3845-45D8-92A2-54330D79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767" y="2487034"/>
            <a:ext cx="4159230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</a:rPr>
              <a:t>美国商标法核心规则与实操注意事项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1CE5C11-2195-4280-BFAD-374EEB9D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07" y="3112266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BC4BB9D-F47A-4CA0-BB65-2366CD0E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757" y="3036656"/>
            <a:ext cx="4018239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"使用在先"原则：商标权归属以实际商业使用为准，而非申请日期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AC55AFD-A240-4FF8-88A0-9EE38D9B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07" y="4015581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9ED1D35-994D-4F31-8F2E-E4ABC15A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757" y="3939971"/>
            <a:ext cx="4018239" cy="11357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"意图使用"申请：可提前占位，无需立即提交使用证据，但注册前需补交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0526A3AD-94B6-45FE-A920-6EAB5BA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07" y="5292280"/>
            <a:ext cx="252033" cy="25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6BC5B421-C7D3-413F-9946-A0BEDAEE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757" y="5216670"/>
            <a:ext cx="4018239" cy="762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984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®符号仅限注册后使用：未注册商标使用®属违法，应用™代替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c3775a0fd4ed9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397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88f797b6746f9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88CBFD7-067E-4A5B-B653-D0DCD652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38a9a11cd4b8e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6058A4E-5157-4309-B027-53DAD269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23673"/>
            <a:ext cx="14491913" cy="52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3572" b="1">
                <a:solidFill>
                  <a:srgbClr val="0C17AA"/>
                </a:solidFill>
              </a:rPr>
              <a:t>知识产权服务资源库：跨境卖家的后盾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2ACCF18-283C-4E5E-9777-77F13E8F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482108"/>
            <a:ext cx="14491913" cy="69379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0853073-B7BC-4E5D-AACB-78A0C10C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482108"/>
            <a:ext cx="4679437" cy="44084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28116F8-4BEE-4BB4-B71C-FDBB3FB3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23" y="1708909"/>
            <a:ext cx="4225836" cy="404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679" b="1">
                <a:solidFill>
                  <a:srgbClr val="0C17AA"/>
                </a:solidFill>
              </a:rPr>
              <a:t>政府资源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2A62824-1553-4DAF-A283-A65442E8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29" y="2324149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5C417EE-088A-47BE-A709-5F9FD0F8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74" y="2256100"/>
            <a:ext cx="4111584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USPTO官网 - 美国专利商标局，提供商标注册、专利申请、真伪查询等完整服务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8BC8177-74C2-4588-86B6-AC0EBDCB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29" y="3122937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203276A-8FD5-49A9-8353-B7B449E8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74" y="3054887"/>
            <a:ext cx="4111584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贸促会 - 中国贸促会知识产权服务中心，涵盖国际版权登记、协议认证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4054967-FD3D-47B7-AA73-B10EB0D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29" y="3921724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8A7AF21-08BC-4F3C-BE5D-9D4EB58E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74" y="3853675"/>
            <a:ext cx="4111584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各地知识产权保护中心 - 地方政府设立的知识产权维权服务和申报指导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5E79704-7331-411F-A03E-999F8BB4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29" y="4720511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F2B7A8A6-BECE-4B37-BBA7-1C13B5FE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74" y="4652462"/>
            <a:ext cx="4111584" cy="10112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美国律师协会(ABA)律师目录 - 覆盖全美知识产权领域执业律师，支持按地区和专业筛选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840846A9-3EAA-45F9-8550-7268D3E9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60" y="1482108"/>
            <a:ext cx="4679437" cy="44084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2DFA237-DCF6-4C9E-93E1-FBFE679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961" y="1708909"/>
            <a:ext cx="4225836" cy="404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679" b="1">
                <a:solidFill>
                  <a:srgbClr val="0C17AA"/>
                </a:solidFill>
              </a:rPr>
              <a:t>专业机构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D5FB1513-0CC2-4AAC-B4FD-C97B27C8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967" y="2324149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2EC1A71-C18A-4E6E-9C68-72C2E72A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212" y="2256100"/>
            <a:ext cx="4111584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跨境电商协会 - 专注跨境卖家权益保护，提供政策解读和集体维权支持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CB060DF-CAE4-49F8-81D3-82EC4D2B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967" y="3122937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3E016800-AD51-4C3B-A1EF-B665A45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212" y="3054887"/>
            <a:ext cx="4111584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知识产权代理公司 - 专业商标注册、专利申请、侵权调查服务，加快审查周期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FE12D57-7FB2-40E4-AEB4-72AB55A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967" y="3921724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4E7BD84-5092-4245-8F35-C4DFBAD5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212" y="3853675"/>
            <a:ext cx="4111584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专利商标事务所 - 全球范围内的知识产权布局规划和诉讼代理服务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5EE4B9A3-1F36-4678-B38E-E1226A7E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398" y="1482108"/>
            <a:ext cx="4679437" cy="44084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1B51219-71FB-4E9A-B977-62502AD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199" y="1708909"/>
            <a:ext cx="4225836" cy="404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679" b="1">
                <a:solidFill>
                  <a:srgbClr val="0C17AA"/>
                </a:solidFill>
              </a:rPr>
              <a:t>平台资源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226DD7A-E79B-46AA-91C5-F1D7CC90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205" y="2324149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2A37FD1F-05FC-4907-9769-EC460089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450" y="2256100"/>
            <a:ext cx="4111584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亚马逊品牌备案门户 - 品牌备案、侵权举报、品牌分析等一站式品牌保护工具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C96904BB-D441-41F2-86EC-D5FF72A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205" y="3122937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8536623-8DA2-462E-9EAF-BFBCC781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450" y="3054887"/>
            <a:ext cx="4111584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eBay IP Hub - IP诉讼平台，提供快速举报通道和权利人保护服务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2C68D2B9-BDE0-46E5-BEFA-BD940D31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205" y="3921724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4A620D69-0C19-4488-A901-736760EB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450" y="3853675"/>
            <a:ext cx="4111584" cy="684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阿里巴巴知识产权保护平台 - 侵权举报、品牌监控、备案申请等综合保护方案</a:t>
            </a: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9E03EF2D-B782-4512-BC01-3E95FD13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6117311"/>
            <a:ext cx="14491913" cy="2302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FF">
              <a:alpha val="66667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6F77F571-D791-4C20-A84D-C4464EB7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23" y="6344112"/>
            <a:ext cx="14038311" cy="404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679" b="1">
                <a:solidFill>
                  <a:srgbClr val="0C17AA"/>
                </a:solidFill>
              </a:rPr>
              <a:t>学习平台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0AD55E93-23F7-4F9C-9BD1-D04A1E61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29" y="6959352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150BA4D-B3A3-4ECD-8BB1-81772945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74" y="6891303"/>
            <a:ext cx="13924060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WIPO在线课程 - 世界知识产权组织免费课程，覆盖商标、专利、版权基础知识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D3428522-FFD3-4E29-A311-AAC0703C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29" y="7431429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6FC6D7CE-E486-47A7-B746-720304F3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74" y="7363380"/>
            <a:ext cx="13924060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美国版权局培训 - 官方版权登记、侵权举证、国际保护策略等专业培训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940D5197-BE6D-4D9C-8284-64BE0CD6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29" y="7903506"/>
            <a:ext cx="226830" cy="226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86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</a:rPr>
              <a:t>●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6AD97A2-8489-4217-B195-3468A6E3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74" y="7835457"/>
            <a:ext cx="13924060" cy="35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buNone/>
            </a:pPr>
            <a:r>
              <a:rPr sz="1786" b="1">
                <a:solidFill>
                  <a:srgbClr val="000000"/>
                </a:solidFill>
              </a:rPr>
              <a:t>跨境电商学院 - 聚焦跨境电商知识产权实战培训，案例分析和防控方案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79424f1d440c0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883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9626e5eb5487d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318B6E2-532E-44D3-949E-E5E929C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ec9b171c141df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pic>
        <p:nvPicPr>
          <p:cNvPr id="6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e8119e61e41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86910" y="3490501"/>
            <a:ext cx="183774" cy="81677"/>
          </a:xfrm>
          <a:prstGeom xmlns:a="http://schemas.openxmlformats.org/drawingml/2006/main" prst="rect">
            <a:avLst/>
          </a:prstGeom>
        </p:spPr>
      </p:pic>
      <p:pic>
        <p:nvPicPr>
          <p:cNvPr id="6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4469b5dc54d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5244" y="6158150"/>
            <a:ext cx="183774" cy="81677"/>
          </a:xfrm>
          <a:prstGeom xmlns:a="http://schemas.openxmlformats.org/drawingml/2006/main" prst="rect">
            <a:avLst/>
          </a:prstGeom>
        </p:spPr>
      </p:pic>
      <p:pic>
        <p:nvPicPr>
          <p:cNvPr id="6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e8119e61e41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3578" y="3490501"/>
            <a:ext cx="183774" cy="81677"/>
          </a:xfrm>
          <a:prstGeom xmlns:a="http://schemas.openxmlformats.org/drawingml/2006/main" prst="rect">
            <a:avLst/>
          </a:prstGeom>
        </p:spPr>
      </p:pic>
      <p:pic>
        <p:nvPicPr>
          <p:cNvPr id="6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4469b5dc54d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81912" y="6158150"/>
            <a:ext cx="183774" cy="81677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6557BAB-9C9D-43BB-8A74-77B3F2B9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779826"/>
            <a:ext cx="14491913" cy="435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2897" b="1">
                <a:solidFill>
                  <a:srgbClr val="0C17AA"/>
                </a:solidFill>
              </a:rPr>
              <a:t>跨境电商知识产权保护年度行动计划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EDD30711-433E-4C95-97C9-909B7228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366398"/>
            <a:ext cx="14491913" cy="6997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8037E63-A4E5-4549-A1AB-03AB344F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1366398"/>
            <a:ext cx="5796668" cy="3498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a7337a2b249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80587" y="4842074"/>
            <a:ext cx="3399338" cy="3399338"/>
          </a:xfrm>
          <a:prstGeom xmlns:a="http://schemas.openxmlformats.org/drawingml/2006/main" prst="rect">
            <a:avLst/>
          </a:prstGeom>
        </p:spPr>
      </p:pic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6EB8191-2E96-451A-A90D-64AA01E1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292" y="3669173"/>
            <a:ext cx="2393927" cy="239392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1FDEAFE-9256-4CBA-A07A-8D51AA40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528" y="4733897"/>
            <a:ext cx="229980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81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F89C6C8-1DBD-4151-B7A7-8617E51D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96" y="1787913"/>
            <a:ext cx="5429119" cy="32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19999"/>
              </a:lnSpc>
              <a:buNone/>
            </a:pPr>
            <a:r>
              <a:rPr sz="2173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Q1季度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05B71CA-C59F-4092-85E3-C2BC46BB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96" y="2208455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完成品牌商标检索，提交美国商标申请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5F075D8-31B6-4F68-AABC-92791492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96" y="2566767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建立内部保密协议流程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7ADF047-27F3-4EBE-8DCF-4F9B7941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96" y="2925078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制定IP保护内部培训计划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54D64D9E-83FD-43D4-AF06-F99C2D3C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56" y="4865164"/>
            <a:ext cx="5796668" cy="3498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94ab8562b4f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8921" y="1488917"/>
            <a:ext cx="3399338" cy="3399338"/>
          </a:xfrm>
          <a:prstGeom xmlns:a="http://schemas.openxmlformats.org/drawingml/2006/main" prst="rect">
            <a:avLst/>
          </a:prstGeom>
        </p:spPr>
      </p:pic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CA9358EA-9EBD-4B69-856B-AA3D4C62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626" y="3667228"/>
            <a:ext cx="2393927" cy="239392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9A9A8B7-CB6E-441E-96CE-BC70B2DE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956" y="4731952"/>
            <a:ext cx="229980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81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6CFC3C9-AC16-4E2E-914E-754A5BFF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030" y="6603973"/>
            <a:ext cx="5429119" cy="32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19999"/>
              </a:lnSpc>
              <a:buNone/>
            </a:pPr>
            <a:r>
              <a:rPr sz="2173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Q2季度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3858ED8-F7F1-4C07-901E-392AF094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030" y="7024515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提交外观设计专利申请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6E4674C-639B-4315-A71B-1C2A284B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030" y="7382827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完成亚马逊品牌备案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6BF5EF5-82B6-45F6-80EA-A988BFAF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030" y="7741139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建立侵权监测机制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822516F-8444-4B37-84DE-A951A856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030" y="8099451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搭建竞争对手专利监控体系</a:t>
            </a: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A2FFCBBC-EF83-49EC-B3BC-5E611C19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590" y="1366398"/>
            <a:ext cx="5796668" cy="3498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4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a7337a2b249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77255" y="4842074"/>
            <a:ext cx="3399338" cy="3399338"/>
          </a:xfrm>
          <a:prstGeom xmlns:a="http://schemas.openxmlformats.org/drawingml/2006/main" prst="rect">
            <a:avLst/>
          </a:prstGeom>
        </p:spPr>
      </p:pic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472B8F95-3143-4AE2-946B-9DA9B17C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960" y="3669173"/>
            <a:ext cx="2393927" cy="239392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2C232A7-72CF-43A2-B0EC-6C0611F1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672" y="4733897"/>
            <a:ext cx="229980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81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9264AB49-5EF9-4E83-B8A3-9A5CEC41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364" y="1429601"/>
            <a:ext cx="5429119" cy="32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19999"/>
              </a:lnSpc>
              <a:buNone/>
            </a:pPr>
            <a:r>
              <a:rPr sz="2173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Q3季度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D8B14EE-EED7-4123-A8F4-82415C63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364" y="1850143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评估专利布局，查漏补缺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38F8A0DD-0FF2-435A-90BC-72390587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364" y="2208455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启动独立站建设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51843757-3570-4968-82B0-B2B65E41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364" y="2566767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积累原创内容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B97B53F-A047-46A4-B879-5B0C2544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364" y="2925078"/>
            <a:ext cx="5429119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完善产品图片版权保护</a:t>
            </a:r>
          </a:p>
        </p:txBody>
      </p:sp>
      <p:sp>
        <p:nvSpPr>
          <p:cNvPr id="37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7B3B7B12-60F5-486E-BA94-88D63AD2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924" y="4865164"/>
            <a:ext cx="5796911" cy="3498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3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94ab8562b4f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5589" y="1488917"/>
            <a:ext cx="3399338" cy="3399338"/>
          </a:xfrm>
          <a:prstGeom xmlns:a="http://schemas.openxmlformats.org/drawingml/2006/main" prst="rect">
            <a:avLst/>
          </a:prstGeom>
        </p:spPr>
      </p:pic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35214ECC-E668-4233-B0EF-426B8244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294" y="3667228"/>
            <a:ext cx="2393927" cy="239392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64BCBB59-87D8-486D-B143-C86F67D9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768" y="4731952"/>
            <a:ext cx="229980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0000"/>
              </a:lnSpc>
              <a:buNone/>
            </a:pPr>
            <a:r>
              <a:rPr sz="1810" b="1">
                <a:solidFill>
                  <a:srgbClr val="0C17AA"/>
                </a:solidFill>
                <a:highlight>
                  <a:srgbClr val="000000">
                    <a:alpha val="0"/>
                  </a:srgbClr>
                </a:highlight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7B22E9-75AD-40A9-919D-3E4C0686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698" y="6603973"/>
            <a:ext cx="5429363" cy="32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19999"/>
              </a:lnSpc>
              <a:buNone/>
            </a:pPr>
            <a:r>
              <a:rPr sz="2173" b="1">
                <a:solidFill>
                  <a:srgbClr val="0C17AA"/>
                </a:solidFill>
                <a:latin typeface="Poppins"/>
                <a:ea typeface="Poppins"/>
                <a:cs typeface="Poppins"/>
              </a:rPr>
              <a:t>Q4季度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2577CD5-A3FD-4770-BFB5-B05A2AF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698" y="7024515"/>
            <a:ext cx="5429363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年度IP审计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60F9DD07-3D2F-4542-952E-5086511F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698" y="7382827"/>
            <a:ext cx="5429363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评估反侵权效果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F55110DE-A07D-409B-9C7F-EA5DC47C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698" y="7741139"/>
            <a:ext cx="5429363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规划下一年度保护预算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562E7612-4FE0-4FD2-9E05-3A51D874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698" y="8099451"/>
            <a:ext cx="5429363" cy="26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ctr">
              <a:lnSpc>
                <a:spcPct val="150000"/>
              </a:lnSpc>
              <a:buNone/>
            </a:pPr>
            <a:r>
              <a:rPr sz="1448" b="1">
                <a:solidFill>
                  <a:srgbClr val="000000"/>
                </a:solidFill>
              </a:rPr>
              <a:t>总结经验优化流程</a:t>
            </a:r>
          </a:p>
        </p:txBody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6384105b84568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1626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ec106f8314d08"/>
          <a:srcRect xmlns:a="http://schemas.openxmlformats.org/drawingml/2006/main" l="0" t="13039" r="0" b="13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3B9D8FC-2287-4F43-B566-22640970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A2C">
              <a:alpha val="74902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925c6dd3b4f94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7E2B86F-8E9C-4557-86E2-4BCF7D90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2589374"/>
            <a:ext cx="14491913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60000"/>
              </a:lnSpc>
              <a:buNone/>
            </a:pPr>
            <a:r>
              <a:rPr sz="4961" b="1">
                <a:solidFill>
                  <a:srgbClr val="0C17AA"/>
                </a:solidFill>
              </a:rPr>
              <a:t>感谢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79DD1A5-1422-4AC8-97AA-4D5F21BD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3619581"/>
            <a:ext cx="14491913" cy="746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60000"/>
              </a:lnSpc>
              <a:buNone/>
            </a:pPr>
            <a:r>
              <a:rPr sz="1822" b="1">
                <a:solidFill>
                  <a:srgbClr val="0C17AA"/>
                </a:solidFill>
              </a:rPr>
              <a:t>从防守到反击：掌握全球商业规则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F5B50BD-2176-40A1-B261-D26E4629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4649788"/>
            <a:ext cx="14491913" cy="591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19999"/>
              </a:lnSpc>
              <a:buNone/>
            </a:pPr>
            <a:r>
              <a:rPr sz="1134" b="1">
                <a:solidFill>
                  <a:srgbClr val="0C17AA"/>
                </a:solidFill>
              </a:rPr>
              <a:t>从制造实力到规则主导。最强有力的保护是主动准备。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12A02CC-3A89-4EFA-B566-004871D8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5524419"/>
            <a:ext cx="144919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458" b="1">
                <a:solidFill>
                  <a:srgbClr val="000000"/>
                </a:solidFill>
              </a:rPr>
              <a:t>知识产权战略团队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4A93AEC-34A3-4E66-B374-C2828709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22" y="6181243"/>
            <a:ext cx="14491913" cy="373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49999"/>
              </a:lnSpc>
              <a:buNone/>
            </a:pPr>
            <a:r>
              <a:rPr sz="1296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2024年6月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5fc923c834c0a"/>
          <a:stretch xmlns:a="http://schemas.openxmlformats.org/drawingml/2006/main"/>
        </p:blipFill>
        <p:spPr>
          <a:xfrm xmlns:a="http://schemas.openxmlformats.org/drawingml/2006/main">
            <a:off x="14522450" y="47625"/>
            <a:ext cx="1524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3179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2026-06-28T03:02:35.2500000Z</dcterms:created>
  <dcterms:modified xsi:type="dcterms:W3CDTF">2026-06-28T03:02:35.2500000Z</dcterms:modified>
</coreProperties>
</file>